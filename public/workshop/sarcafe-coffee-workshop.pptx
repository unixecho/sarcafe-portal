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9" r:id="rId11"/>
    <p:sldId id="267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1348" autoAdjust="0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74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5395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8B959-567A-269D-C995-E1D1B0796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20331E-790A-2939-175B-E176625465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66D8BA-D63A-058D-7602-52DE1BA227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9D91BA-C446-AF8A-FC37-2FBBB89A25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3385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1.png"/><Relationship Id="rId10" Type="http://schemas.openxmlformats.org/officeDocument/2006/relationships/image" Target="../media/image14.png"/><Relationship Id="rId4" Type="http://schemas.openxmlformats.org/officeDocument/2006/relationships/image" Target="../media/image10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21.png"/><Relationship Id="rId5" Type="http://schemas.openxmlformats.org/officeDocument/2006/relationships/image" Target="../media/image16.png"/><Relationship Id="rId10" Type="http://schemas.openxmlformats.org/officeDocument/2006/relationships/image" Target="../media/image20.png"/><Relationship Id="rId4" Type="http://schemas.openxmlformats.org/officeDocument/2006/relationships/image" Target="../media/image3.pn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2C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206240"/>
            <a:ext cx="5029200" cy="5029200"/>
          </a:xfrm>
          <a:prstGeom prst="ellipse">
            <a:avLst/>
          </a:prstGeom>
          <a:solidFill>
            <a:srgbClr val="2E1A18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>
            <a:off x="-1645920" y="-1645920"/>
            <a:ext cx="3291840" cy="3291840"/>
          </a:xfrm>
          <a:prstGeom prst="ellipse">
            <a:avLst/>
          </a:prstGeom>
          <a:solidFill>
            <a:srgbClr val="2E1A18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Shape 2"/>
          <p:cNvSpPr/>
          <p:nvPr/>
        </p:nvSpPr>
        <p:spPr>
          <a:xfrm>
            <a:off x="5212080" y="1097280"/>
            <a:ext cx="1737360" cy="1737360"/>
          </a:xfrm>
          <a:prstGeom prst="ellipse">
            <a:avLst/>
          </a:prstGeom>
          <a:solidFill>
            <a:srgbClr val="F3E7D3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5" name="Image 0" descr="icon_FaMugHot_4A2C2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2986" y="1488186"/>
            <a:ext cx="955548" cy="9555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306324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סדנת קפה מקצועית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1371600" y="397764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3E7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להכין את כוס הקפה המושלמת — מדריך לעובדי עגלות הקפה שלנו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166360" y="4709160"/>
            <a:ext cx="1828800" cy="45720"/>
          </a:xfrm>
          <a:prstGeom prst="rect">
            <a:avLst/>
          </a:prstGeom>
          <a:solidFill>
            <a:srgbClr val="C17817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9" name="Text 6"/>
          <p:cNvSpPr/>
          <p:nvPr/>
        </p:nvSpPr>
        <p:spPr>
          <a:xfrm>
            <a:off x="1371600" y="493776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D8C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מהפרי שבשדה ועד הכוס בעגלה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4A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מה נעבור היום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i="1" dirty="0">
                <a:solidFill>
                  <a:srgbClr val="C17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סדר יום הסדנה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263640" y="1600200"/>
            <a:ext cx="53492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B8A48A">
                <a:alpha val="3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10716768" y="1751076"/>
            <a:ext cx="658368" cy="658368"/>
          </a:xfrm>
          <a:prstGeom prst="ellipse">
            <a:avLst/>
          </a:prstGeom>
          <a:solidFill>
            <a:srgbClr val="C17817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0" descr="icon_GiCoffeeBean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4901" y="1899209"/>
            <a:ext cx="362102" cy="3621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0" y="167335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9B7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0" y="1856232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5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זה קפה, ומה בין ערביקה לרובוסטה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1600200"/>
            <a:ext cx="53492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B8A48A">
                <a:alpha val="3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" name="Shape 7"/>
          <p:cNvSpPr/>
          <p:nvPr/>
        </p:nvSpPr>
        <p:spPr>
          <a:xfrm>
            <a:off x="5001768" y="1751076"/>
            <a:ext cx="658368" cy="658368"/>
          </a:xfrm>
          <a:prstGeom prst="ellipse">
            <a:avLst/>
          </a:prstGeom>
          <a:solidFill>
            <a:srgbClr val="C17817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1" name="Image 1" descr="icon_MdLocalFireDepartmen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9901" y="1899209"/>
            <a:ext cx="362102" cy="3621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5800" y="167335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9B7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85800" y="1856232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5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תהליך העיבוד: קטיף, קלייה וטחינה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2816352"/>
            <a:ext cx="53492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B8A48A">
                <a:alpha val="3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5" name="Shape 11"/>
          <p:cNvSpPr/>
          <p:nvPr/>
        </p:nvSpPr>
        <p:spPr>
          <a:xfrm>
            <a:off x="10716768" y="2967228"/>
            <a:ext cx="658368" cy="658368"/>
          </a:xfrm>
          <a:prstGeom prst="ellipse">
            <a:avLst/>
          </a:prstGeom>
          <a:solidFill>
            <a:srgbClr val="C17817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6" name="Image 2" descr="icon_GiCoffeeBean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4901" y="3115361"/>
            <a:ext cx="362102" cy="3621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00" y="2889504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9B7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400800" y="3072384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50" dirty="0" err="1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תערובות</a:t>
            </a:r>
            <a:r>
              <a:rPr lang="en-US" sz="135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בלנדים</a:t>
            </a:r>
            <a:r>
              <a:rPr lang="en-US" sz="135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</a:t>
            </a:r>
            <a:r>
              <a:rPr lang="en-US" sz="1350" dirty="0" err="1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למה</a:t>
            </a:r>
            <a:r>
              <a:rPr lang="en-US" sz="135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ומה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48640" y="2816352"/>
            <a:ext cx="53492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B8A48A">
                <a:alpha val="3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0" name="Shape 15"/>
          <p:cNvSpPr/>
          <p:nvPr/>
        </p:nvSpPr>
        <p:spPr>
          <a:xfrm>
            <a:off x="5001768" y="2967228"/>
            <a:ext cx="658368" cy="658368"/>
          </a:xfrm>
          <a:prstGeom prst="ellipse">
            <a:avLst/>
          </a:prstGeom>
          <a:solidFill>
            <a:srgbClr val="C17817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21" name="Image 3" descr="icon_MdOutlineScal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9901" y="3115361"/>
            <a:ext cx="362102" cy="3621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5800" y="2889504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9B7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85800" y="3072384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5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כללי הזהב להכנת אספרסו מושלם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6263640" y="4032504"/>
            <a:ext cx="53492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B8A48A">
                <a:alpha val="3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5" name="Shape 19"/>
          <p:cNvSpPr/>
          <p:nvPr/>
        </p:nvSpPr>
        <p:spPr>
          <a:xfrm>
            <a:off x="10716768" y="4183380"/>
            <a:ext cx="658368" cy="658368"/>
          </a:xfrm>
          <a:prstGeom prst="ellipse">
            <a:avLst/>
          </a:prstGeom>
          <a:solidFill>
            <a:srgbClr val="C17817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26" name="Image 4" descr="icon_GiMilkCarton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64901" y="4331513"/>
            <a:ext cx="362102" cy="36210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400800" y="4105656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9B7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6400800" y="4288536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5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הקצפת חלב נכונה</a:t>
            </a:r>
            <a:endParaRPr lang="en-US" sz="1350" dirty="0"/>
          </a:p>
        </p:txBody>
      </p:sp>
      <p:sp>
        <p:nvSpPr>
          <p:cNvPr id="29" name="Shape 22"/>
          <p:cNvSpPr/>
          <p:nvPr/>
        </p:nvSpPr>
        <p:spPr>
          <a:xfrm>
            <a:off x="548640" y="4032504"/>
            <a:ext cx="53492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B8A48A">
                <a:alpha val="3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30" name="Shape 23"/>
          <p:cNvSpPr/>
          <p:nvPr/>
        </p:nvSpPr>
        <p:spPr>
          <a:xfrm>
            <a:off x="5001768" y="4183380"/>
            <a:ext cx="658368" cy="658368"/>
          </a:xfrm>
          <a:prstGeom prst="ellipse">
            <a:avLst/>
          </a:prstGeom>
          <a:solidFill>
            <a:srgbClr val="C17817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31" name="Image 5" descr="icon_FaMugHot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9901" y="4331513"/>
            <a:ext cx="362102" cy="36210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85800" y="4105656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9B7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85800" y="4288536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5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ההבדלים בין הפוך, קפוצ׳ינו, לאטה ועוד</a:t>
            </a:r>
            <a:endParaRPr lang="en-US" sz="1350" dirty="0"/>
          </a:p>
        </p:txBody>
      </p:sp>
      <p:sp>
        <p:nvSpPr>
          <p:cNvPr id="34" name="Shape 26"/>
          <p:cNvSpPr/>
          <p:nvPr/>
        </p:nvSpPr>
        <p:spPr>
          <a:xfrm>
            <a:off x="6263640" y="5248656"/>
            <a:ext cx="53492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B8A48A">
                <a:alpha val="3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35" name="Shape 27"/>
          <p:cNvSpPr/>
          <p:nvPr/>
        </p:nvSpPr>
        <p:spPr>
          <a:xfrm>
            <a:off x="10716768" y="5399532"/>
            <a:ext cx="658368" cy="658368"/>
          </a:xfrm>
          <a:prstGeom prst="ellipse">
            <a:avLst/>
          </a:prstGeom>
          <a:solidFill>
            <a:srgbClr val="C17817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36" name="Image 6" descr="icon_MdSettings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64901" y="5547665"/>
            <a:ext cx="362102" cy="36210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400800" y="532180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9B7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6400800" y="5504688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5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למתקדמים: כיוונון המכונה והטחינה</a:t>
            </a:r>
            <a:endParaRPr lang="en-US" sz="1350" dirty="0"/>
          </a:p>
        </p:txBody>
      </p:sp>
      <p:sp>
        <p:nvSpPr>
          <p:cNvPr id="39" name="Shape 30"/>
          <p:cNvSpPr/>
          <p:nvPr/>
        </p:nvSpPr>
        <p:spPr>
          <a:xfrm>
            <a:off x="548640" y="5248656"/>
            <a:ext cx="53492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B8A48A">
                <a:alpha val="3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40" name="Shape 31"/>
          <p:cNvSpPr/>
          <p:nvPr/>
        </p:nvSpPr>
        <p:spPr>
          <a:xfrm>
            <a:off x="5001768" y="5399532"/>
            <a:ext cx="658368" cy="658368"/>
          </a:xfrm>
          <a:prstGeom prst="ellipse">
            <a:avLst/>
          </a:prstGeom>
          <a:solidFill>
            <a:srgbClr val="C17817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41" name="Image 7" descr="icon_MdWarningAmber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49901" y="5547665"/>
            <a:ext cx="362102" cy="362102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685800" y="532180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9B7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300" dirty="0"/>
          </a:p>
        </p:txBody>
      </p:sp>
      <p:sp>
        <p:nvSpPr>
          <p:cNvPr id="43" name="Text 33"/>
          <p:cNvSpPr/>
          <p:nvPr/>
        </p:nvSpPr>
        <p:spPr>
          <a:xfrm>
            <a:off x="685800" y="5504688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5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פתרון בעיות נפוצות בעגלה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4A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מה זה בעצם קפה?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i="1" dirty="0">
                <a:solidFill>
                  <a:srgbClr val="C17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רקע כללי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F3E7D3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2057059" y="91440"/>
            <a:ext cx="1554480" cy="15544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0" descr="icon_FaSeedling_4A2C2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6817" y="441198"/>
            <a:ext cx="854964" cy="85496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3529381"/>
            <a:ext cx="1554480" cy="15544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8" name="Image 1" descr="icon_GiCoffeeBeans_4A2C2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758" y="3879139"/>
            <a:ext cx="854964" cy="85496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561320" y="1645920"/>
            <a:ext cx="502920" cy="502920"/>
          </a:xfrm>
          <a:prstGeom prst="ellipse">
            <a:avLst/>
          </a:prstGeom>
          <a:solidFill>
            <a:srgbClr val="C17817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0" name="Image 2" descr="icon_FaSeedling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80192" y="1764792"/>
            <a:ext cx="265176" cy="2651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069080" y="1600200"/>
            <a:ext cx="6355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5000"/>
              </a:lnSpc>
              <a:buNone/>
            </a:pPr>
            <a:r>
              <a:rPr lang="en-US" sz="150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קפה </a:t>
            </a:r>
            <a:r>
              <a:rPr lang="en-US" sz="1500" dirty="0" err="1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מופק</a:t>
            </a:r>
            <a:r>
              <a:rPr lang="en-US" sz="150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מ</a:t>
            </a:r>
            <a:r>
              <a:rPr lang="he-IL" sz="150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הפולים</a:t>
            </a:r>
            <a:r>
              <a:rPr lang="en-US" sz="150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he-IL" sz="150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שבתוך </a:t>
            </a:r>
            <a:r>
              <a:rPr lang="en-US" sz="1500" dirty="0" err="1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פרי</a:t>
            </a:r>
            <a:r>
              <a:rPr lang="en-US" sz="150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בשם "דובדבן קפה" (coffee cherry), הגדל על שיח קפה.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10561320" y="3063240"/>
            <a:ext cx="502920" cy="502920"/>
          </a:xfrm>
          <a:prstGeom prst="ellipse">
            <a:avLst/>
          </a:prstGeom>
          <a:solidFill>
            <a:srgbClr val="C17817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3" name="Image 3" descr="icon_GiCoffeeBeans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80192" y="3182112"/>
            <a:ext cx="265176" cy="26517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069080" y="3017520"/>
            <a:ext cx="6355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5000"/>
              </a:lnSpc>
              <a:buNone/>
            </a:pPr>
            <a:r>
              <a:rPr lang="en-US" sz="150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בכל דובדבן יש בדרך כלל שני גרעינים — אלה שהופכים, אחרי עיבוד וקלייה, לפולי הקפה שאנחנו מכירים.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10561320" y="4480560"/>
            <a:ext cx="502920" cy="502920"/>
          </a:xfrm>
          <a:prstGeom prst="ellipse">
            <a:avLst/>
          </a:prstGeom>
          <a:solidFill>
            <a:srgbClr val="C17817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6" name="Image 4" descr="icon_MdOutlineScale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0192" y="4599432"/>
            <a:ext cx="265176" cy="26517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069080" y="4434840"/>
            <a:ext cx="6355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5000"/>
              </a:lnSpc>
              <a:buNone/>
            </a:pPr>
            <a:r>
              <a:rPr lang="en-US" sz="150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השיחים גדלים באזורים טרופיים לאורך "חגורת הקפה" שבין קווי הרוחב 25° צפון ל־30° דרום.</a:t>
            </a:r>
            <a:endParaRPr lang="en-US" sz="1500" dirty="0"/>
          </a:p>
        </p:txBody>
      </p:sp>
      <p:sp>
        <p:nvSpPr>
          <p:cNvPr id="18" name="Text 11"/>
          <p:cNvSpPr/>
          <p:nvPr/>
        </p:nvSpPr>
        <p:spPr>
          <a:xfrm>
            <a:off x="4069080" y="5989320"/>
            <a:ext cx="7543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50" i="1" dirty="0">
                <a:solidFill>
                  <a:srgbClr val="C17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טעימה קטנה: קפה הוא בעצם הפרי החמוץ-מתוק ביותר שגדל בטבע — פשוט אנחנו קולים, טוחנים וחולטים רק את הזרע שבתוכו.</a:t>
            </a:r>
            <a:endParaRPr lang="en-US" sz="12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8757D7E-80E0-9CAF-26F7-99293F71919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93168" y="2034540"/>
            <a:ext cx="1217414" cy="89154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4BBB190-531F-FB07-1CC5-7449E31258B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93168" y="4864608"/>
            <a:ext cx="1217414" cy="103327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FD0CBEB-FF35-B36C-E374-EF14CD1B042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93168" y="3360420"/>
            <a:ext cx="1081231" cy="97197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4A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שני סוגי הקפה העיקריים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i="1" dirty="0">
                <a:solidFill>
                  <a:srgbClr val="C17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ערביקה מול רובוסטה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217920" y="1691640"/>
            <a:ext cx="5212080" cy="420624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B8A48A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8389620" y="1943100"/>
            <a:ext cx="868680" cy="868680"/>
          </a:xfrm>
          <a:prstGeom prst="ellipse">
            <a:avLst/>
          </a:prstGeom>
          <a:solidFill>
            <a:srgbClr val="6B8E4E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0" descr="icon_FaLeaf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5073" y="2138553"/>
            <a:ext cx="477774" cy="4777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92240" y="29260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ערביקה (Arabica)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675120" y="3520440"/>
            <a:ext cx="42976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כ־60-70% מהקפה בעולם</a:t>
            </a:r>
            <a:endParaRPr lang="en-US" sz="1400" dirty="0"/>
          </a:p>
          <a:p>
            <a:pPr marL="0" indent="0" algn="r" rtl="1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טעם עדין, מורכב, לרוב עם חמיצות נעימה</a:t>
            </a:r>
            <a:endParaRPr lang="en-US" sz="1400" dirty="0"/>
          </a:p>
          <a:p>
            <a:pPr marL="0" indent="0" algn="r" rtl="1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פחות קפאין</a:t>
            </a:r>
            <a:endParaRPr lang="en-US" sz="1400" dirty="0"/>
          </a:p>
          <a:p>
            <a:pPr marL="0" indent="0" algn="r" rtl="1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גדל בגבהים רבים, רגיש יותר לגידול</a:t>
            </a:r>
            <a:endParaRPr lang="en-US" sz="1400" dirty="0"/>
          </a:p>
          <a:p>
            <a:pPr marL="0" indent="0" algn="r" rtl="1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יקר יותר, נחשב לאיכותי יותר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1691640"/>
            <a:ext cx="5212080" cy="420624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B8A48A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" name="Shape 7"/>
          <p:cNvSpPr/>
          <p:nvPr/>
        </p:nvSpPr>
        <p:spPr>
          <a:xfrm>
            <a:off x="2720340" y="1943100"/>
            <a:ext cx="868680" cy="868680"/>
          </a:xfrm>
          <a:prstGeom prst="ellipse">
            <a:avLst/>
          </a:prstGeom>
          <a:solidFill>
            <a:srgbClr val="C17817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1" name="Image 1" descr="icon_GiCoffeeBean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5793" y="2138553"/>
            <a:ext cx="477774" cy="47777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2960" y="29260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רובוסטה (Robusta)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1005840" y="3520440"/>
            <a:ext cx="42976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כ־30-40% מהקפה בעולם</a:t>
            </a:r>
            <a:endParaRPr lang="en-US" sz="1400" dirty="0"/>
          </a:p>
          <a:p>
            <a:pPr marL="0" indent="0" algn="r" rtl="1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טעם חזק, מריר, "עצי" יותר</a:t>
            </a:r>
            <a:endParaRPr lang="en-US" sz="1400" dirty="0"/>
          </a:p>
          <a:p>
            <a:pPr marL="0" indent="0" algn="r" rtl="1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כפול קפאין בערך ביחס לערביקה</a:t>
            </a:r>
            <a:endParaRPr lang="en-US" sz="1400" dirty="0"/>
          </a:p>
          <a:p>
            <a:pPr marL="0" indent="0" algn="r" rtl="1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עמיד יותר לגידול ומחלות</a:t>
            </a:r>
            <a:endParaRPr lang="en-US" sz="1400" dirty="0"/>
          </a:p>
          <a:p>
            <a:pPr marL="0" indent="0" algn="r" rtl="1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זול יותר, תורם גוף וקרמה לתערובות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4A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מהשדה לכוס: תהליך העיבוד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i="1" dirty="0">
                <a:solidFill>
                  <a:srgbClr val="C17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ארבעה שלבים עיקריים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851660" y="2206092"/>
            <a:ext cx="8503920" cy="0"/>
          </a:xfrm>
          <a:prstGeom prst="line">
            <a:avLst/>
          </a:prstGeom>
          <a:noFill/>
          <a:ln w="38100">
            <a:solidFill>
              <a:srgbClr val="D8C3A5"/>
            </a:solidFill>
            <a:prstDash val="dash"/>
          </a:ln>
        </p:spPr>
        <p:txBody>
          <a:bodyPr/>
          <a:lstStyle/>
          <a:p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1257300" y="1611732"/>
            <a:ext cx="1188720" cy="1188720"/>
          </a:xfrm>
          <a:prstGeom prst="ellipse">
            <a:avLst/>
          </a:prstGeom>
          <a:solidFill>
            <a:srgbClr val="4A2C2A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0" descr="icon_GiCoffeeBean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762" y="1879194"/>
            <a:ext cx="653796" cy="6537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" y="2983332"/>
            <a:ext cx="2514600" cy="2286000"/>
          </a:xfrm>
          <a:prstGeom prst="roundRect">
            <a:avLst>
              <a:gd name="adj" fmla="val 4000"/>
            </a:avLst>
          </a:prstGeom>
          <a:solidFill>
            <a:srgbClr val="FBF5EA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8" name="Text 5"/>
          <p:cNvSpPr/>
          <p:nvPr/>
        </p:nvSpPr>
        <p:spPr>
          <a:xfrm>
            <a:off x="685800" y="312049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rtl="1"/>
            <a:r>
              <a:rPr lang="he-IL" sz="1500" b="1" dirty="0">
                <a:solidFill>
                  <a:srgbClr val="4A2C2A"/>
                </a:solidFill>
                <a:latin typeface="Cambria" pitchFamily="34" charset="0"/>
                <a:ea typeface="Cambria" pitchFamily="34" charset="-122"/>
              </a:rPr>
              <a:t>4.</a:t>
            </a:r>
            <a:r>
              <a:rPr lang="en-US" sz="1500" b="1" dirty="0">
                <a:solidFill>
                  <a:srgbClr val="4A2C2A"/>
                </a:solidFill>
                <a:latin typeface="Cambria" pitchFamily="34" charset="0"/>
                <a:ea typeface="Cambria" pitchFamily="34" charset="-122"/>
              </a:rPr>
              <a:t> </a:t>
            </a:r>
            <a:r>
              <a:rPr lang="en-US" sz="1500" b="1" dirty="0" err="1">
                <a:solidFill>
                  <a:srgbClr val="4A2C2A"/>
                </a:solidFill>
                <a:latin typeface="Cambria" pitchFamily="34" charset="0"/>
                <a:ea typeface="Cambria" pitchFamily="34" charset="-122"/>
              </a:rPr>
              <a:t>טחינה</a:t>
            </a:r>
            <a:endParaRPr lang="en-US" sz="1500" b="1" dirty="0">
              <a:solidFill>
                <a:srgbClr val="4A2C2A"/>
              </a:solidFill>
              <a:latin typeface="Cambria" pitchFamily="34" charset="0"/>
              <a:ea typeface="Cambria" pitchFamily="34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758952" y="3531972"/>
            <a:ext cx="2185416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טוחנים סמוך ככל האפשר להכנה כדי לשמר טעם וארומה.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091940" y="1611732"/>
            <a:ext cx="1188720" cy="1188720"/>
          </a:xfrm>
          <a:prstGeom prst="ellipse">
            <a:avLst/>
          </a:prstGeom>
          <a:solidFill>
            <a:srgbClr val="C17817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1" name="Image 1" descr="icon_MdLocalFireDepartmen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9402" y="1879194"/>
            <a:ext cx="653796" cy="6537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429000" y="2983332"/>
            <a:ext cx="2514600" cy="2286000"/>
          </a:xfrm>
          <a:prstGeom prst="roundRect">
            <a:avLst>
              <a:gd name="adj" fmla="val 4000"/>
            </a:avLst>
          </a:prstGeom>
          <a:solidFill>
            <a:srgbClr val="FBF5EA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3" name="Text 9"/>
          <p:cNvSpPr/>
          <p:nvPr/>
        </p:nvSpPr>
        <p:spPr>
          <a:xfrm>
            <a:off x="3520440" y="312049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rtl="1"/>
            <a:r>
              <a:rPr lang="he-IL" sz="1500" b="1" dirty="0">
                <a:solidFill>
                  <a:srgbClr val="4A2C2A"/>
                </a:solidFill>
                <a:latin typeface="Cambria" pitchFamily="34" charset="0"/>
                <a:ea typeface="Cambria" pitchFamily="34" charset="-122"/>
              </a:rPr>
              <a:t>3.</a:t>
            </a:r>
            <a:r>
              <a:rPr lang="en-US" sz="1500" b="1" dirty="0">
                <a:solidFill>
                  <a:srgbClr val="4A2C2A"/>
                </a:solidFill>
                <a:latin typeface="Cambria" pitchFamily="34" charset="0"/>
                <a:ea typeface="Cambria" pitchFamily="34" charset="-122"/>
              </a:rPr>
              <a:t> </a:t>
            </a:r>
            <a:r>
              <a:rPr lang="en-US" sz="1500" b="1" dirty="0" err="1">
                <a:solidFill>
                  <a:srgbClr val="4A2C2A"/>
                </a:solidFill>
                <a:latin typeface="Cambria" pitchFamily="34" charset="0"/>
                <a:ea typeface="Cambria" pitchFamily="34" charset="-122"/>
              </a:rPr>
              <a:t>קלייה</a:t>
            </a:r>
            <a:endParaRPr lang="en-US" sz="1500" b="1" dirty="0">
              <a:solidFill>
                <a:srgbClr val="4A2C2A"/>
              </a:solidFill>
              <a:latin typeface="Cambria" pitchFamily="34" charset="0"/>
              <a:ea typeface="Cambria" pitchFamily="34" charset="-122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3593592" y="3531972"/>
            <a:ext cx="2185416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קולים בחום גבוה — הגרעין הירוק הופך לחום, ארומטי וטעים.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926580" y="1611732"/>
            <a:ext cx="1188720" cy="1188720"/>
          </a:xfrm>
          <a:prstGeom prst="ellipse">
            <a:avLst/>
          </a:prstGeom>
          <a:solidFill>
            <a:srgbClr val="4A2C2A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6" name="Image 2" descr="icon_GiWaterDrop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4042" y="1879194"/>
            <a:ext cx="653796" cy="653796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263640" y="2983332"/>
            <a:ext cx="2514600" cy="2286000"/>
          </a:xfrm>
          <a:prstGeom prst="roundRect">
            <a:avLst>
              <a:gd name="adj" fmla="val 4000"/>
            </a:avLst>
          </a:prstGeom>
          <a:solidFill>
            <a:srgbClr val="FBF5EA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8" name="Text 13"/>
          <p:cNvSpPr/>
          <p:nvPr/>
        </p:nvSpPr>
        <p:spPr>
          <a:xfrm>
            <a:off x="6355080" y="312049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rtl="1"/>
            <a:r>
              <a:rPr lang="he-IL" sz="1500" b="1" dirty="0">
                <a:solidFill>
                  <a:srgbClr val="4A2C2A"/>
                </a:solidFill>
                <a:latin typeface="Cambria" pitchFamily="34" charset="0"/>
                <a:ea typeface="Cambria" pitchFamily="34" charset="-122"/>
              </a:rPr>
              <a:t>2.</a:t>
            </a:r>
            <a:r>
              <a:rPr lang="en-US" sz="1500" b="1" dirty="0">
                <a:solidFill>
                  <a:srgbClr val="4A2C2A"/>
                </a:solidFill>
                <a:latin typeface="Cambria" pitchFamily="34" charset="0"/>
                <a:ea typeface="Cambria" pitchFamily="34" charset="-122"/>
              </a:rPr>
              <a:t> </a:t>
            </a:r>
            <a:r>
              <a:rPr lang="en-US" sz="1500" b="1" dirty="0" err="1">
                <a:solidFill>
                  <a:srgbClr val="4A2C2A"/>
                </a:solidFill>
                <a:latin typeface="Cambria" pitchFamily="34" charset="0"/>
                <a:ea typeface="Cambria" pitchFamily="34" charset="-122"/>
              </a:rPr>
              <a:t>עיבוד</a:t>
            </a:r>
            <a:endParaRPr lang="en-US" sz="1500" b="1" dirty="0">
              <a:solidFill>
                <a:srgbClr val="4A2C2A"/>
              </a:solidFill>
              <a:latin typeface="Cambria" pitchFamily="34" charset="0"/>
              <a:ea typeface="Cambria" pitchFamily="34" charset="-122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6428232" y="3531972"/>
            <a:ext cx="2185416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lnSpc>
                <a:spcPct val="110000"/>
              </a:lnSpc>
              <a:buNone/>
            </a:pPr>
            <a:r>
              <a:rPr lang="en-US" sz="120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מפרידים את הגרעין מהפרי, בשיטה יבשה </a:t>
            </a:r>
            <a:r>
              <a:rPr lang="en-US" sz="1200" dirty="0" err="1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או</a:t>
            </a:r>
            <a:r>
              <a:rPr lang="en-US" sz="120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רטובה</a:t>
            </a:r>
            <a:r>
              <a:rPr lang="en-US" sz="120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, ומייבשים </a:t>
            </a:r>
            <a:r>
              <a:rPr lang="en-US" sz="1200" dirty="0" err="1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אותו</a:t>
            </a:r>
            <a:r>
              <a:rPr lang="en-US" sz="120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br>
              <a:rPr lang="en-US" sz="120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he-IL" sz="120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הקפה שלנו הוא חלקו </a:t>
            </a:r>
            <a:r>
              <a:rPr lang="en-US" sz="120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washed</a:t>
            </a:r>
            <a:endParaRPr lang="he-IL" sz="1200" dirty="0">
              <a:solidFill>
                <a:srgbClr val="3A2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 rtl="1">
              <a:lnSpc>
                <a:spcPct val="110000"/>
              </a:lnSpc>
              <a:buNone/>
            </a:pPr>
            <a:r>
              <a:rPr lang="en-US" sz="120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</a:t>
            </a:r>
            <a:r>
              <a:rPr lang="he-IL" sz="120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כאשר משאירים חלק מהקליפה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9761220" y="1611732"/>
            <a:ext cx="1188720" cy="1188720"/>
          </a:xfrm>
          <a:prstGeom prst="ellipse">
            <a:avLst/>
          </a:prstGeom>
          <a:solidFill>
            <a:srgbClr val="C17817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21" name="Image 3" descr="icon_FaSeedling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28682" y="1879194"/>
            <a:ext cx="653796" cy="653796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9098280" y="2983332"/>
            <a:ext cx="2514600" cy="2286000"/>
          </a:xfrm>
          <a:prstGeom prst="roundRect">
            <a:avLst>
              <a:gd name="adj" fmla="val 4000"/>
            </a:avLst>
          </a:prstGeom>
          <a:solidFill>
            <a:srgbClr val="FBF5EA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3" name="Text 17"/>
          <p:cNvSpPr/>
          <p:nvPr/>
        </p:nvSpPr>
        <p:spPr>
          <a:xfrm>
            <a:off x="9189720" y="312049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500" b="1" dirty="0">
                <a:solidFill>
                  <a:srgbClr val="4A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.1 קטיף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262872" y="3531972"/>
            <a:ext cx="2185416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lnSpc>
                <a:spcPct val="110000"/>
              </a:lnSpc>
              <a:buNone/>
            </a:pPr>
            <a:r>
              <a:rPr lang="en-US" sz="120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קוטפים את הדובדבנים </a:t>
            </a:r>
            <a:r>
              <a:rPr lang="en-US" sz="1200" dirty="0" err="1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הבשלים</a:t>
            </a:r>
            <a:r>
              <a:rPr lang="en-US" sz="120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האדומים</a:t>
            </a:r>
            <a:r>
              <a:rPr lang="en-US" sz="120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ידנית או מכנית.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914400" y="60807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17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טיפ: ככל שהזמן בין הטחינה להכנה קצר יותר — כך שומרים יותר ארומה וטעם בכוס.</a:t>
            </a:r>
            <a:endParaRPr lang="en-US" sz="1300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5A25F4E-7A79-9098-EFA7-E83AB1F5FE85}"/>
              </a:ext>
            </a:extLst>
          </p:cNvPr>
          <p:cNvGrpSpPr/>
          <p:nvPr/>
        </p:nvGrpSpPr>
        <p:grpSpPr>
          <a:xfrm>
            <a:off x="3747472" y="4713021"/>
            <a:ext cx="1907013" cy="1567009"/>
            <a:chOff x="3842776" y="599934"/>
            <a:chExt cx="1927088" cy="1545110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E977674E-D3E1-952C-4A50-85AA3930D05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842776" y="599934"/>
              <a:ext cx="1927088" cy="1411746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DC1C8398-22A5-8018-1389-3A2B81EF3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82743" y="1802117"/>
              <a:ext cx="200053" cy="190527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DB487820-37A0-3BD9-1667-03E4BA0E9EF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525361" y="1954517"/>
              <a:ext cx="244503" cy="190527"/>
            </a:xfrm>
            <a:prstGeom prst="rect">
              <a:avLst/>
            </a:prstGeom>
          </p:spPr>
        </p:pic>
      </p:grpSp>
      <p:pic>
        <p:nvPicPr>
          <p:cNvPr id="34" name="Picture 33">
            <a:extLst>
              <a:ext uri="{FF2B5EF4-FFF2-40B4-BE49-F238E27FC236}">
                <a16:creationId xmlns:a16="http://schemas.microsoft.com/office/drawing/2014/main" id="{363770B6-7B0F-B5A2-A8A3-BAC4C09B785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35198" y="4727630"/>
            <a:ext cx="1853928" cy="122951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3F84221B-D3C1-BF50-2E24-CDA47FB0C58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34430" y="4672957"/>
            <a:ext cx="1315510" cy="128418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4737D53-2F03-1675-5091-60EB5716F2E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9399" y="4721587"/>
            <a:ext cx="1744522" cy="12687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 err="1">
                <a:solidFill>
                  <a:srgbClr val="4A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תערובות</a:t>
            </a:r>
            <a:r>
              <a:rPr lang="en-US" sz="3200" b="1" dirty="0">
                <a:solidFill>
                  <a:srgbClr val="4A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)</a:t>
            </a:r>
            <a:r>
              <a:rPr lang="en-US" sz="3200" b="1" dirty="0" err="1">
                <a:solidFill>
                  <a:srgbClr val="4A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בלנדים</a:t>
            </a:r>
            <a:r>
              <a:rPr lang="en-US" sz="3200" b="1" dirty="0">
                <a:solidFill>
                  <a:srgbClr val="4A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i="1" dirty="0">
                <a:solidFill>
                  <a:srgbClr val="C17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למה מערבבים סוגי קפה?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418320" y="2697480"/>
            <a:ext cx="1920240" cy="1920240"/>
          </a:xfrm>
          <a:prstGeom prst="ellipse">
            <a:avLst/>
          </a:prstGeom>
          <a:solidFill>
            <a:srgbClr val="4A2C2A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5" name="Image 0" descr="icon_GiCoffeeBean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0374" y="3129534"/>
            <a:ext cx="1056132" cy="10561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744200" y="4206240"/>
            <a:ext cx="1005840" cy="1005840"/>
          </a:xfrm>
          <a:prstGeom prst="ellipse">
            <a:avLst/>
          </a:prstGeom>
          <a:solidFill>
            <a:srgbClr val="C17817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7" name="Image 1" descr="icon_GiCoffeeBean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514" y="4432554"/>
            <a:ext cx="553212" cy="55321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756523" y="1764792"/>
            <a:ext cx="365760" cy="365760"/>
          </a:xfrm>
          <a:prstGeom prst="ellipse">
            <a:avLst/>
          </a:prstGeom>
          <a:solidFill>
            <a:srgbClr val="C17817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9" name="Text 5"/>
          <p:cNvSpPr/>
          <p:nvPr/>
        </p:nvSpPr>
        <p:spPr>
          <a:xfrm>
            <a:off x="1026542" y="1764792"/>
            <a:ext cx="7614537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5000"/>
              </a:lnSpc>
              <a:buNone/>
            </a:pPr>
            <a:r>
              <a:rPr lang="en-US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בתי קלייה מערבבים פולים ממקורות וקלייה שונים כדי ליצור טעם עקבי — כך שהקפה טועם אותו הדבר </a:t>
            </a:r>
            <a:r>
              <a:rPr lang="en-US" dirty="0" err="1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בכל</a:t>
            </a:r>
            <a:r>
              <a:rPr lang="en-US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כוס</a:t>
            </a:r>
            <a:r>
              <a:rPr lang="en-US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dirty="0"/>
          </a:p>
        </p:txBody>
      </p:sp>
      <p:sp>
        <p:nvSpPr>
          <p:cNvPr id="10" name="Shape 6"/>
          <p:cNvSpPr/>
          <p:nvPr/>
        </p:nvSpPr>
        <p:spPr>
          <a:xfrm>
            <a:off x="8756523" y="2615184"/>
            <a:ext cx="365760" cy="365760"/>
          </a:xfrm>
          <a:prstGeom prst="ellipse">
            <a:avLst/>
          </a:prstGeom>
          <a:solidFill>
            <a:srgbClr val="C17817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1" name="Text 7"/>
          <p:cNvSpPr/>
          <p:nvPr/>
        </p:nvSpPr>
        <p:spPr>
          <a:xfrm>
            <a:off x="1143000" y="2587407"/>
            <a:ext cx="7498080" cy="3935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5000"/>
              </a:lnSpc>
              <a:buNone/>
            </a:pPr>
            <a:r>
              <a:rPr lang="en-US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תערובת מתוכננת בקפידה סביב ארבעה מרכיבים: חוזק, חמיצות, מתיקות וגוף (Body).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8756523" y="3419856"/>
            <a:ext cx="365760" cy="365760"/>
          </a:xfrm>
          <a:prstGeom prst="ellipse">
            <a:avLst/>
          </a:prstGeom>
          <a:solidFill>
            <a:srgbClr val="C17817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3" name="Text 9"/>
          <p:cNvSpPr/>
          <p:nvPr/>
        </p:nvSpPr>
        <p:spPr>
          <a:xfrm>
            <a:off x="1143000" y="3346704"/>
            <a:ext cx="74980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5000"/>
              </a:lnSpc>
              <a:buNone/>
            </a:pPr>
            <a:r>
              <a:rPr lang="en-US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תערובת אספרסו טיפוסית מבוססת ערביקה איכותית, לעיתים עם אחוז קטן של רובוסטה — שמוסיפה גוף וקרמה עשירה יותר.</a:t>
            </a:r>
            <a:endParaRPr lang="en-US" dirty="0"/>
          </a:p>
        </p:txBody>
      </p:sp>
      <p:sp>
        <p:nvSpPr>
          <p:cNvPr id="14" name="Shape 10"/>
          <p:cNvSpPr/>
          <p:nvPr/>
        </p:nvSpPr>
        <p:spPr>
          <a:xfrm>
            <a:off x="8756523" y="4258818"/>
            <a:ext cx="365760" cy="365760"/>
          </a:xfrm>
          <a:prstGeom prst="ellipse">
            <a:avLst/>
          </a:prstGeom>
          <a:solidFill>
            <a:srgbClr val="C17817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5" name="Text 11"/>
          <p:cNvSpPr/>
          <p:nvPr/>
        </p:nvSpPr>
        <p:spPr>
          <a:xfrm>
            <a:off x="5126182" y="4185666"/>
            <a:ext cx="351489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5000"/>
              </a:lnSpc>
              <a:buNone/>
            </a:pPr>
            <a:r>
              <a:rPr lang="he-IL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בעגלה שלנו התערובת היא 75% </a:t>
            </a:r>
            <a:r>
              <a:rPr lang="he-IL" dirty="0" err="1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עראביקה</a:t>
            </a:r>
            <a:r>
              <a:rPr lang="he-IL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25% </a:t>
            </a:r>
            <a:r>
              <a:rPr lang="he-IL" dirty="0" err="1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רובוסטה</a:t>
            </a:r>
            <a:r>
              <a:rPr lang="he-IL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br>
              <a:rPr lang="en-US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he-IL" dirty="0" err="1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קלומוביה</a:t>
            </a:r>
            <a:r>
              <a:rPr lang="he-IL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ארגנטינה, קוסטה ריקה, גואטמלה,</a:t>
            </a:r>
          </a:p>
          <a:p>
            <a:pPr marL="0" indent="0" algn="r" rtl="1">
              <a:lnSpc>
                <a:spcPct val="115000"/>
              </a:lnSpc>
              <a:buNone/>
            </a:pPr>
            <a:r>
              <a:rPr lang="he-IL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הודו, אינדונזיה,</a:t>
            </a:r>
          </a:p>
          <a:p>
            <a:pPr marL="0" indent="0" algn="r" rtl="1">
              <a:lnSpc>
                <a:spcPct val="115000"/>
              </a:lnSpc>
              <a:buNone/>
            </a:pPr>
            <a:r>
              <a:rPr lang="he-IL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אתיופיה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46FB5FF-2E22-B071-AC30-01EF82A5F6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781" y="3799503"/>
            <a:ext cx="5009402" cy="298069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4A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כללי הזהב להכנת קפה טוב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i="1" dirty="0">
                <a:solidFill>
                  <a:srgbClr val="C17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חמישה עקרונות שאסור לוותר עליהם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97764" y="1518249"/>
            <a:ext cx="2103120" cy="2674189"/>
          </a:xfrm>
          <a:prstGeom prst="roundRect">
            <a:avLst>
              <a:gd name="adj" fmla="val 5217"/>
            </a:avLst>
          </a:prstGeom>
          <a:solidFill>
            <a:srgbClr val="F3E7D3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969264" y="1723989"/>
            <a:ext cx="960120" cy="960120"/>
          </a:xfrm>
          <a:prstGeom prst="ellipse">
            <a:avLst/>
          </a:prstGeom>
          <a:solidFill>
            <a:srgbClr val="4A2C2A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0" descr="icon_FaTin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291" y="1940016"/>
            <a:ext cx="528066" cy="5280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7492" y="2798409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500" b="1" dirty="0">
                <a:solidFill>
                  <a:srgbClr val="C178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ניקיון הציוד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62356" y="3301329"/>
            <a:ext cx="1773936" cy="7789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lnSpc>
                <a:spcPct val="110000"/>
              </a:lnSpc>
              <a:buNone/>
            </a:pPr>
            <a:r>
              <a:rPr lang="en-US" sz="115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ניקוי יומי של הגרופ, הסלים והמקציף — שאריות חלב וקפה הורסות טעם.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720340" y="1518249"/>
            <a:ext cx="2103120" cy="2674189"/>
          </a:xfrm>
          <a:prstGeom prst="roundRect">
            <a:avLst>
              <a:gd name="adj" fmla="val 5217"/>
            </a:avLst>
          </a:prstGeom>
          <a:solidFill>
            <a:srgbClr val="FBF5EA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" name="Shape 7"/>
          <p:cNvSpPr/>
          <p:nvPr/>
        </p:nvSpPr>
        <p:spPr>
          <a:xfrm>
            <a:off x="3291840" y="1723989"/>
            <a:ext cx="960120" cy="960120"/>
          </a:xfrm>
          <a:prstGeom prst="ellipse">
            <a:avLst/>
          </a:prstGeom>
          <a:solidFill>
            <a:srgbClr val="4A2C2A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1" name="Image 1" descr="icon_MdOutlineTime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7867" y="1940016"/>
            <a:ext cx="528066" cy="52806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30068" y="2798409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500" b="1" dirty="0">
                <a:solidFill>
                  <a:srgbClr val="C178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זמן חליטה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2775204" y="3301329"/>
            <a:ext cx="2103120" cy="7789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lnSpc>
                <a:spcPct val="110000"/>
              </a:lnSpc>
              <a:buNone/>
            </a:pPr>
            <a:r>
              <a:rPr lang="en-US" sz="115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שואפים ל־25-30 </a:t>
            </a:r>
            <a:r>
              <a:rPr lang="en-US" sz="1150" dirty="0" err="1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שניות</a:t>
            </a:r>
            <a:r>
              <a:rPr lang="en-US" sz="115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למנת</a:t>
            </a:r>
            <a:r>
              <a:rPr lang="en-US" sz="115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אספרסו</a:t>
            </a:r>
            <a:r>
              <a:rPr lang="en-US" sz="115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בודדת</a:t>
            </a:r>
            <a:r>
              <a:rPr lang="en-US" sz="115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e-IL" sz="115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או כפולה</a:t>
            </a:r>
            <a:r>
              <a:rPr lang="en-US" sz="115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he-IL" sz="115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30-40 למנה ארוכה בודדת או כפולה. קפה ניגר כמו דבש. לא נשפך ומוקצף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42916" y="1518249"/>
            <a:ext cx="2103120" cy="2674189"/>
          </a:xfrm>
          <a:prstGeom prst="roundRect">
            <a:avLst>
              <a:gd name="adj" fmla="val 5217"/>
            </a:avLst>
          </a:prstGeom>
          <a:solidFill>
            <a:srgbClr val="F3E7D3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5" name="Shape 11"/>
          <p:cNvSpPr/>
          <p:nvPr/>
        </p:nvSpPr>
        <p:spPr>
          <a:xfrm>
            <a:off x="5614416" y="1723989"/>
            <a:ext cx="960120" cy="960120"/>
          </a:xfrm>
          <a:prstGeom prst="ellipse">
            <a:avLst/>
          </a:prstGeom>
          <a:solidFill>
            <a:srgbClr val="4A2C2A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6" name="Image 2" descr="icon_MdThermostat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0443" y="1940016"/>
            <a:ext cx="528066" cy="52806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52644" y="2798409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500" b="1" dirty="0">
                <a:solidFill>
                  <a:srgbClr val="C178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מים איכותיים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5207508" y="3301329"/>
            <a:ext cx="1773936" cy="7789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lnSpc>
                <a:spcPct val="110000"/>
              </a:lnSpc>
              <a:buNone/>
            </a:pPr>
            <a:r>
              <a:rPr lang="en-US" sz="1150" dirty="0" err="1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מים</a:t>
            </a:r>
            <a:r>
              <a:rPr lang="en-US" sz="115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נקיים</a:t>
            </a:r>
            <a:r>
              <a:rPr lang="en-US" sz="115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e-IL" sz="115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ורכים</a:t>
            </a:r>
            <a:r>
              <a:rPr lang="en-US" sz="115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בטמפרטורה של 90-96 מעלות צלזיוס.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7365492" y="1518249"/>
            <a:ext cx="2103120" cy="2674189"/>
          </a:xfrm>
          <a:prstGeom prst="roundRect">
            <a:avLst>
              <a:gd name="adj" fmla="val 5217"/>
            </a:avLst>
          </a:prstGeom>
          <a:solidFill>
            <a:srgbClr val="FBF5EA"/>
          </a:solidFill>
          <a:ln/>
        </p:spPr>
        <p:txBody>
          <a:bodyPr/>
          <a:lstStyle/>
          <a:p>
            <a:pPr algn="r" rtl="1"/>
            <a:endParaRPr lang="he-IL" dirty="0"/>
          </a:p>
        </p:txBody>
      </p:sp>
      <p:sp>
        <p:nvSpPr>
          <p:cNvPr id="20" name="Shape 15"/>
          <p:cNvSpPr/>
          <p:nvPr/>
        </p:nvSpPr>
        <p:spPr>
          <a:xfrm>
            <a:off x="7936992" y="1723989"/>
            <a:ext cx="960120" cy="960120"/>
          </a:xfrm>
          <a:prstGeom prst="ellipse">
            <a:avLst/>
          </a:prstGeom>
          <a:solidFill>
            <a:srgbClr val="4A2C2A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21" name="Image 3" descr="icon_MdOutlineScal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3019" y="1940016"/>
            <a:ext cx="528066" cy="52806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75220" y="2798409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500" b="1" dirty="0" err="1">
                <a:solidFill>
                  <a:srgbClr val="C178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כמות</a:t>
            </a:r>
            <a:r>
              <a:rPr lang="en-US" sz="1500" b="1" dirty="0">
                <a:solidFill>
                  <a:srgbClr val="C178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500" b="1" dirty="0" err="1">
                <a:solidFill>
                  <a:srgbClr val="C178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מדויקת</a:t>
            </a:r>
            <a:r>
              <a:rPr lang="en-US" sz="1500" b="1" dirty="0">
                <a:solidFill>
                  <a:srgbClr val="C178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he-IL" sz="1500" b="1" dirty="0">
                <a:solidFill>
                  <a:srgbClr val="C178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ועקביות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530084" y="3301329"/>
            <a:ext cx="1773936" cy="7789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rtl="1">
              <a:lnSpc>
                <a:spcPct val="110000"/>
              </a:lnSpc>
            </a:pPr>
            <a:r>
              <a:rPr lang="en-US" sz="115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שוקלים כל </a:t>
            </a:r>
            <a:r>
              <a:rPr lang="en-US" sz="1150" dirty="0" err="1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מנה</a:t>
            </a:r>
            <a:r>
              <a:rPr lang="en-US" sz="115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dirty="0" err="1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במשקל</a:t>
            </a:r>
            <a:br>
              <a:rPr lang="en-US" sz="115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he-IL" sz="115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7-9 גרם למנה בודדת</a:t>
            </a:r>
          </a:p>
          <a:p>
            <a:pPr marL="0" indent="0" algn="ctr" rtl="1">
              <a:lnSpc>
                <a:spcPct val="110000"/>
              </a:lnSpc>
              <a:buNone/>
            </a:pPr>
            <a:r>
              <a:rPr lang="he-IL" sz="115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16-18 גרם למנה כפולה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9688068" y="1518249"/>
            <a:ext cx="2103120" cy="2674189"/>
          </a:xfrm>
          <a:prstGeom prst="roundRect">
            <a:avLst>
              <a:gd name="adj" fmla="val 5217"/>
            </a:avLst>
          </a:prstGeom>
          <a:solidFill>
            <a:srgbClr val="F3E7D3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5" name="Shape 19"/>
          <p:cNvSpPr/>
          <p:nvPr/>
        </p:nvSpPr>
        <p:spPr>
          <a:xfrm>
            <a:off x="10259568" y="1723989"/>
            <a:ext cx="960120" cy="960120"/>
          </a:xfrm>
          <a:prstGeom prst="ellipse">
            <a:avLst/>
          </a:prstGeom>
          <a:solidFill>
            <a:srgbClr val="4A2C2A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26" name="Image 4" descr="icon_GiCoffeeBeans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5595" y="1940016"/>
            <a:ext cx="528066" cy="52806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797796" y="2798409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sz="1500" b="1" dirty="0">
                <a:solidFill>
                  <a:srgbClr val="C178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איכות ו</a:t>
            </a:r>
            <a:r>
              <a:rPr lang="en-US" sz="1500" b="1" dirty="0" err="1">
                <a:solidFill>
                  <a:srgbClr val="C178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טריות</a:t>
            </a:r>
            <a:r>
              <a:rPr lang="en-US" sz="1500" b="1" dirty="0">
                <a:solidFill>
                  <a:srgbClr val="C178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he-IL" sz="1500" b="1" dirty="0">
                <a:solidFill>
                  <a:srgbClr val="C178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הקפה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9852660" y="3301329"/>
            <a:ext cx="1773936" cy="7789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lnSpc>
                <a:spcPct val="110000"/>
              </a:lnSpc>
              <a:buNone/>
            </a:pPr>
            <a:r>
              <a:rPr lang="en-US" sz="115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טוחנים </a:t>
            </a:r>
            <a:r>
              <a:rPr lang="en-US" sz="1150" dirty="0" err="1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קפה</a:t>
            </a:r>
            <a:r>
              <a:rPr lang="en-US" sz="115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טרי</a:t>
            </a:r>
            <a:r>
              <a:rPr lang="en-US" sz="115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e-IL" sz="115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(יותר משבועיים מקלייה),</a:t>
            </a:r>
            <a:r>
              <a:rPr lang="en-US" sz="115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150" dirty="0" err="1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סמוך</a:t>
            </a:r>
            <a:r>
              <a:rPr lang="en-US" sz="115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ככל האפשר להכנה — לא מכינים מלאי טחון מראש.</a:t>
            </a:r>
            <a:endParaRPr lang="en-US" sz="115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370F37E0-1CB9-9016-01B7-CB379427939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7925" y="4296386"/>
            <a:ext cx="1531620" cy="234119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41AAFDD1-F246-E7E5-CA2B-ADCB852E1C2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5524" y="4301121"/>
            <a:ext cx="1531619" cy="2342072"/>
          </a:xfrm>
          <a:prstGeom prst="rect">
            <a:avLst/>
          </a:prstGeom>
        </p:spPr>
      </p:pic>
      <p:sp>
        <p:nvSpPr>
          <p:cNvPr id="34" name="Shape 4">
            <a:extLst>
              <a:ext uri="{FF2B5EF4-FFF2-40B4-BE49-F238E27FC236}">
                <a16:creationId xmlns:a16="http://schemas.microsoft.com/office/drawing/2014/main" id="{0AB57425-0297-AFE1-BEB2-709A6CF6B0B1}"/>
              </a:ext>
            </a:extLst>
          </p:cNvPr>
          <p:cNvSpPr/>
          <p:nvPr/>
        </p:nvSpPr>
        <p:spPr>
          <a:xfrm>
            <a:off x="11334678" y="4744528"/>
            <a:ext cx="216092" cy="214822"/>
          </a:xfrm>
          <a:prstGeom prst="ellipse">
            <a:avLst/>
          </a:prstGeom>
          <a:solidFill>
            <a:srgbClr val="C17817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6" name="Text 5">
            <a:extLst>
              <a:ext uri="{FF2B5EF4-FFF2-40B4-BE49-F238E27FC236}">
                <a16:creationId xmlns:a16="http://schemas.microsoft.com/office/drawing/2014/main" id="{1FCE1745-87D6-5AB8-A662-C84B34C178E3}"/>
              </a:ext>
            </a:extLst>
          </p:cNvPr>
          <p:cNvSpPr/>
          <p:nvPr/>
        </p:nvSpPr>
        <p:spPr>
          <a:xfrm>
            <a:off x="4549830" y="4618454"/>
            <a:ext cx="6669404" cy="4234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5000"/>
              </a:lnSpc>
              <a:buNone/>
            </a:pPr>
            <a:r>
              <a:rPr lang="he-IL" dirty="0" err="1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נקיון</a:t>
            </a:r>
            <a:r>
              <a:rPr lang="he-IL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e-IL" dirty="0" err="1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הגרופ</a:t>
            </a:r>
            <a:r>
              <a:rPr lang="he-IL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עם מטלית </a:t>
            </a:r>
            <a:r>
              <a:rPr lang="he-IL" b="1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יבשה (לא לשטוף!)</a:t>
            </a:r>
          </a:p>
        </p:txBody>
      </p:sp>
      <p:sp>
        <p:nvSpPr>
          <p:cNvPr id="38" name="Text 1">
            <a:extLst>
              <a:ext uri="{FF2B5EF4-FFF2-40B4-BE49-F238E27FC236}">
                <a16:creationId xmlns:a16="http://schemas.microsoft.com/office/drawing/2014/main" id="{CF222FD0-F573-947D-E5D3-76B06E093226}"/>
              </a:ext>
            </a:extLst>
          </p:cNvPr>
          <p:cNvSpPr/>
          <p:nvPr/>
        </p:nvSpPr>
        <p:spPr>
          <a:xfrm>
            <a:off x="548640" y="4243426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sz="1400" i="1" dirty="0">
                <a:solidFill>
                  <a:srgbClr val="C17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שלבים ודגשים חשובים בהכנת המנה</a:t>
            </a:r>
            <a:endParaRPr lang="en-US" sz="1400" dirty="0"/>
          </a:p>
        </p:txBody>
      </p:sp>
      <p:sp>
        <p:nvSpPr>
          <p:cNvPr id="40" name="Shape 4">
            <a:extLst>
              <a:ext uri="{FF2B5EF4-FFF2-40B4-BE49-F238E27FC236}">
                <a16:creationId xmlns:a16="http://schemas.microsoft.com/office/drawing/2014/main" id="{6FA1A783-C1CE-CE08-A5E6-C204F38A37EA}"/>
              </a:ext>
            </a:extLst>
          </p:cNvPr>
          <p:cNvSpPr/>
          <p:nvPr/>
        </p:nvSpPr>
        <p:spPr>
          <a:xfrm>
            <a:off x="11334678" y="5031884"/>
            <a:ext cx="216092" cy="214822"/>
          </a:xfrm>
          <a:prstGeom prst="ellipse">
            <a:avLst/>
          </a:prstGeom>
          <a:solidFill>
            <a:srgbClr val="C17817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2" name="Text 5">
            <a:extLst>
              <a:ext uri="{FF2B5EF4-FFF2-40B4-BE49-F238E27FC236}">
                <a16:creationId xmlns:a16="http://schemas.microsoft.com/office/drawing/2014/main" id="{50641918-3917-5A68-EBB4-97ABF0B4A343}"/>
              </a:ext>
            </a:extLst>
          </p:cNvPr>
          <p:cNvSpPr/>
          <p:nvPr/>
        </p:nvSpPr>
        <p:spPr>
          <a:xfrm>
            <a:off x="4549830" y="4905871"/>
            <a:ext cx="6669404" cy="4234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5000"/>
              </a:lnSpc>
              <a:buNone/>
            </a:pPr>
            <a:r>
              <a:rPr lang="he-IL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מנה מדויקת, שטוחה, ודחוסה. לא "לדפוק"</a:t>
            </a:r>
            <a:r>
              <a:rPr lang="en-US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e-IL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אחרי דחיסה</a:t>
            </a:r>
          </a:p>
        </p:txBody>
      </p:sp>
      <p:sp>
        <p:nvSpPr>
          <p:cNvPr id="44" name="Text 5">
            <a:extLst>
              <a:ext uri="{FF2B5EF4-FFF2-40B4-BE49-F238E27FC236}">
                <a16:creationId xmlns:a16="http://schemas.microsoft.com/office/drawing/2014/main" id="{F73B69DA-1DC9-DC49-4D82-14BF5E988DE2}"/>
              </a:ext>
            </a:extLst>
          </p:cNvPr>
          <p:cNvSpPr/>
          <p:nvPr/>
        </p:nvSpPr>
        <p:spPr>
          <a:xfrm>
            <a:off x="4549830" y="5193288"/>
            <a:ext cx="6669404" cy="4234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5000"/>
              </a:lnSpc>
              <a:buNone/>
            </a:pPr>
            <a:r>
              <a:rPr lang="he-IL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הרצת מים רותחים רגע לפני הברגת הידית. רצוי הברגה עדינה</a:t>
            </a:r>
          </a:p>
        </p:txBody>
      </p:sp>
      <p:sp>
        <p:nvSpPr>
          <p:cNvPr id="46" name="Text 5">
            <a:extLst>
              <a:ext uri="{FF2B5EF4-FFF2-40B4-BE49-F238E27FC236}">
                <a16:creationId xmlns:a16="http://schemas.microsoft.com/office/drawing/2014/main" id="{0E4598F5-F523-2E5A-7A48-FD33F89A5F6E}"/>
              </a:ext>
            </a:extLst>
          </p:cNvPr>
          <p:cNvSpPr/>
          <p:nvPr/>
        </p:nvSpPr>
        <p:spPr>
          <a:xfrm>
            <a:off x="4549830" y="5480705"/>
            <a:ext cx="6669404" cy="4234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5000"/>
              </a:lnSpc>
              <a:buNone/>
            </a:pPr>
            <a:r>
              <a:rPr lang="he-IL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הפעלת המכונה לאחר לא יותר משלוש שניות - מומלץ כוס חמה ויבשה</a:t>
            </a:r>
          </a:p>
        </p:txBody>
      </p:sp>
      <p:sp>
        <p:nvSpPr>
          <p:cNvPr id="48" name="Text 5">
            <a:extLst>
              <a:ext uri="{FF2B5EF4-FFF2-40B4-BE49-F238E27FC236}">
                <a16:creationId xmlns:a16="http://schemas.microsoft.com/office/drawing/2014/main" id="{7D38667C-1500-E2E7-9A65-994F2E01F3B6}"/>
              </a:ext>
            </a:extLst>
          </p:cNvPr>
          <p:cNvSpPr/>
          <p:nvPr/>
        </p:nvSpPr>
        <p:spPr>
          <a:xfrm>
            <a:off x="4572409" y="6061036"/>
            <a:ext cx="6669404" cy="4234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5000"/>
              </a:lnSpc>
              <a:buNone/>
            </a:pPr>
            <a:r>
              <a:rPr lang="he-IL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הקצפה קרמית של החלב, לא יותר מדי בועות. 2-3 שניות וסירקולציה</a:t>
            </a:r>
          </a:p>
        </p:txBody>
      </p:sp>
      <p:sp>
        <p:nvSpPr>
          <p:cNvPr id="50" name="Shape 4">
            <a:extLst>
              <a:ext uri="{FF2B5EF4-FFF2-40B4-BE49-F238E27FC236}">
                <a16:creationId xmlns:a16="http://schemas.microsoft.com/office/drawing/2014/main" id="{44090740-96D3-C497-7EBD-9A83DAD4FD9B}"/>
              </a:ext>
            </a:extLst>
          </p:cNvPr>
          <p:cNvSpPr/>
          <p:nvPr/>
        </p:nvSpPr>
        <p:spPr>
          <a:xfrm>
            <a:off x="11334678" y="5319240"/>
            <a:ext cx="216092" cy="214822"/>
          </a:xfrm>
          <a:prstGeom prst="ellipse">
            <a:avLst/>
          </a:prstGeom>
          <a:solidFill>
            <a:srgbClr val="C17817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52" name="Shape 4">
            <a:extLst>
              <a:ext uri="{FF2B5EF4-FFF2-40B4-BE49-F238E27FC236}">
                <a16:creationId xmlns:a16="http://schemas.microsoft.com/office/drawing/2014/main" id="{75289C72-61CD-65B5-1A37-CACB11D6A24F}"/>
              </a:ext>
            </a:extLst>
          </p:cNvPr>
          <p:cNvSpPr/>
          <p:nvPr/>
        </p:nvSpPr>
        <p:spPr>
          <a:xfrm>
            <a:off x="11334678" y="5606596"/>
            <a:ext cx="216092" cy="214822"/>
          </a:xfrm>
          <a:prstGeom prst="ellipse">
            <a:avLst/>
          </a:prstGeom>
          <a:solidFill>
            <a:srgbClr val="C17817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54" name="Shape 4">
            <a:extLst>
              <a:ext uri="{FF2B5EF4-FFF2-40B4-BE49-F238E27FC236}">
                <a16:creationId xmlns:a16="http://schemas.microsoft.com/office/drawing/2014/main" id="{845B6D7F-DF2D-CF8A-D26B-A36D21C41D92}"/>
              </a:ext>
            </a:extLst>
          </p:cNvPr>
          <p:cNvSpPr/>
          <p:nvPr/>
        </p:nvSpPr>
        <p:spPr>
          <a:xfrm>
            <a:off x="11334678" y="5893952"/>
            <a:ext cx="216092" cy="214822"/>
          </a:xfrm>
          <a:prstGeom prst="ellipse">
            <a:avLst/>
          </a:prstGeom>
          <a:solidFill>
            <a:srgbClr val="C17817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56" name="Shape 4">
            <a:extLst>
              <a:ext uri="{FF2B5EF4-FFF2-40B4-BE49-F238E27FC236}">
                <a16:creationId xmlns:a16="http://schemas.microsoft.com/office/drawing/2014/main" id="{A8ACD546-9372-1C11-FFE6-819E16C490E2}"/>
              </a:ext>
            </a:extLst>
          </p:cNvPr>
          <p:cNvSpPr/>
          <p:nvPr/>
        </p:nvSpPr>
        <p:spPr>
          <a:xfrm>
            <a:off x="11334678" y="6181308"/>
            <a:ext cx="216092" cy="214822"/>
          </a:xfrm>
          <a:prstGeom prst="ellipse">
            <a:avLst/>
          </a:prstGeom>
          <a:solidFill>
            <a:srgbClr val="C17817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E0062E9C-AD4F-A23E-A98F-09003FAC25A1}"/>
              </a:ext>
            </a:extLst>
          </p:cNvPr>
          <p:cNvSpPr/>
          <p:nvPr/>
        </p:nvSpPr>
        <p:spPr>
          <a:xfrm>
            <a:off x="11334678" y="6468664"/>
            <a:ext cx="216092" cy="214822"/>
          </a:xfrm>
          <a:prstGeom prst="ellipse">
            <a:avLst/>
          </a:prstGeom>
          <a:solidFill>
            <a:srgbClr val="C17817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62" name="Text 5">
            <a:extLst>
              <a:ext uri="{FF2B5EF4-FFF2-40B4-BE49-F238E27FC236}">
                <a16:creationId xmlns:a16="http://schemas.microsoft.com/office/drawing/2014/main" id="{7CB8AD58-068C-C5D8-5A78-7F5BDE2C4317}"/>
              </a:ext>
            </a:extLst>
          </p:cNvPr>
          <p:cNvSpPr/>
          <p:nvPr/>
        </p:nvSpPr>
        <p:spPr>
          <a:xfrm>
            <a:off x="4549830" y="6342958"/>
            <a:ext cx="6669404" cy="4234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5000"/>
              </a:lnSpc>
              <a:buNone/>
            </a:pPr>
            <a:r>
              <a:rPr lang="he-IL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ציורים בקפה. לא חובה</a:t>
            </a:r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C3F2CDAA-D6FF-9847-A875-461A4D785DE4}"/>
              </a:ext>
            </a:extLst>
          </p:cNvPr>
          <p:cNvSpPr/>
          <p:nvPr/>
        </p:nvSpPr>
        <p:spPr>
          <a:xfrm>
            <a:off x="4549830" y="5773619"/>
            <a:ext cx="6669404" cy="4234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5000"/>
              </a:lnSpc>
              <a:buNone/>
            </a:pPr>
            <a:r>
              <a:rPr lang="he-IL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מנת קפה לא מחכה להקצפה/הגשה יותר מ 10-20 שניות (חוץ מקפה קר)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4A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הקצפת חלב נכונה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i="1" dirty="0">
                <a:solidFill>
                  <a:srgbClr val="C17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מהחלב הקר עד לקצף המבריק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solidFill>
            <a:srgbClr val="4A2C2A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9235440" y="1828800"/>
            <a:ext cx="1828800" cy="1828800"/>
          </a:xfrm>
          <a:prstGeom prst="ellipse">
            <a:avLst/>
          </a:prstGeom>
          <a:solidFill>
            <a:srgbClr val="F3E7D3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0" descr="icon_GiMilkCarton_4A2C2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240280"/>
            <a:ext cx="1005840" cy="1005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0" y="393192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קצף חלק ומבריק —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לא בועות גדולות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429499" y="484632"/>
            <a:ext cx="502920" cy="502920"/>
          </a:xfrm>
          <a:prstGeom prst="ellipse">
            <a:avLst/>
          </a:prstGeom>
          <a:solidFill>
            <a:srgbClr val="C17817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9" name="Text 6"/>
          <p:cNvSpPr/>
          <p:nvPr/>
        </p:nvSpPr>
        <p:spPr>
          <a:xfrm>
            <a:off x="7429499" y="4846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8640" y="1519123"/>
            <a:ext cx="6720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600" b="1" dirty="0" err="1">
                <a:solidFill>
                  <a:srgbClr val="4A2C2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חלב</a:t>
            </a:r>
            <a:r>
              <a:rPr lang="en-US" sz="1600" b="1" dirty="0">
                <a:solidFill>
                  <a:srgbClr val="4A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600" b="1" dirty="0" err="1">
                <a:solidFill>
                  <a:srgbClr val="4A2C2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קר</a:t>
            </a:r>
            <a:r>
              <a:rPr lang="en-US" sz="1600" b="1" dirty="0">
                <a:solidFill>
                  <a:srgbClr val="4A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600" b="1" dirty="0" err="1">
                <a:solidFill>
                  <a:srgbClr val="4A2C2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וטרי</a:t>
            </a:r>
            <a:endParaRPr lang="en-US" sz="1600" b="1" dirty="0">
              <a:solidFill>
                <a:srgbClr val="4A2C2A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835084" y="1903171"/>
            <a:ext cx="3457257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0000"/>
              </a:lnSpc>
              <a:buNone/>
            </a:pPr>
            <a:r>
              <a:rPr lang="he-IL" sz="135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הכי טוב </a:t>
            </a:r>
            <a:r>
              <a:rPr lang="he-IL" sz="1350" dirty="0" err="1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להת</a:t>
            </a:r>
            <a:r>
              <a:rPr lang="en-US" sz="1350" dirty="0" err="1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חיל</a:t>
            </a:r>
            <a:r>
              <a:rPr lang="en-US" sz="135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תמיד עם חלב קר ישר מהמקרר — כך יש יותר זמן להקציף לפני שהוא מתחמם מדי.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429499" y="1488628"/>
            <a:ext cx="502920" cy="502920"/>
          </a:xfrm>
          <a:prstGeom prst="ellipse">
            <a:avLst/>
          </a:prstGeom>
          <a:solidFill>
            <a:srgbClr val="C17817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3" name="Text 10"/>
          <p:cNvSpPr/>
          <p:nvPr/>
        </p:nvSpPr>
        <p:spPr>
          <a:xfrm>
            <a:off x="7429499" y="14886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48640" y="2517800"/>
            <a:ext cx="6720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600" b="1" dirty="0" err="1">
                <a:solidFill>
                  <a:srgbClr val="4A2C2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מיקום</a:t>
            </a:r>
            <a:r>
              <a:rPr lang="en-US" sz="1600" b="1" dirty="0">
                <a:solidFill>
                  <a:srgbClr val="4A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600" b="1" dirty="0" err="1">
                <a:solidFill>
                  <a:srgbClr val="4A2C2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הפייה</a:t>
            </a:r>
            <a:endParaRPr lang="en-US" sz="1600" b="1" dirty="0">
              <a:solidFill>
                <a:srgbClr val="4A2C2A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3835084" y="2901848"/>
            <a:ext cx="3457257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0000"/>
              </a:lnSpc>
              <a:buNone/>
            </a:pPr>
            <a:r>
              <a:rPr lang="en-US" sz="135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מכניסים את מקציף האדים ממש מתחת לפני החלב, בזווית קלה, כדי ליצור "</a:t>
            </a:r>
            <a:r>
              <a:rPr lang="en-US" sz="1350" dirty="0" err="1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עין</a:t>
            </a:r>
            <a:r>
              <a:rPr lang="he-IL" sz="135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r>
              <a:rPr lang="en-US" sz="135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e-IL" sz="135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350" dirty="0" err="1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מערבולת</a:t>
            </a:r>
            <a:r>
              <a:rPr lang="en-US" sz="135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אחידה</a:t>
            </a:r>
            <a:r>
              <a:rPr lang="he-IL" sz="135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US" sz="135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7429499" y="2492624"/>
            <a:ext cx="502920" cy="502920"/>
          </a:xfrm>
          <a:prstGeom prst="ellipse">
            <a:avLst/>
          </a:prstGeom>
          <a:solidFill>
            <a:srgbClr val="C17817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7" name="Text 14"/>
          <p:cNvSpPr/>
          <p:nvPr/>
        </p:nvSpPr>
        <p:spPr>
          <a:xfrm>
            <a:off x="7429499" y="24926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48640" y="3516477"/>
            <a:ext cx="6720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600" b="1" dirty="0" err="1">
                <a:solidFill>
                  <a:srgbClr val="4A2C2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טמפרטורה</a:t>
            </a:r>
            <a:r>
              <a:rPr lang="en-US" sz="1600" b="1" dirty="0">
                <a:solidFill>
                  <a:srgbClr val="4A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600" b="1" dirty="0" err="1">
                <a:solidFill>
                  <a:srgbClr val="4A2C2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נכונה</a:t>
            </a:r>
            <a:endParaRPr lang="en-US" sz="1600" b="1" dirty="0">
              <a:solidFill>
                <a:srgbClr val="4A2C2A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3835084" y="3900525"/>
            <a:ext cx="3457257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0000"/>
              </a:lnSpc>
              <a:buNone/>
            </a:pPr>
            <a:r>
              <a:rPr lang="en-US" sz="135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עוצרים </a:t>
            </a:r>
            <a:r>
              <a:rPr lang="en-US" sz="1350" dirty="0" err="1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בסביבות</a:t>
            </a:r>
            <a:r>
              <a:rPr lang="en-US" sz="135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55-65</a:t>
            </a:r>
            <a:r>
              <a:rPr lang="he-IL" sz="135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מעלות — נוגעים בקנקן, כשקשה להחזיק ביד זה הזמן לעצור.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7429499" y="3496620"/>
            <a:ext cx="502920" cy="502920"/>
          </a:xfrm>
          <a:prstGeom prst="ellipse">
            <a:avLst/>
          </a:prstGeom>
          <a:solidFill>
            <a:srgbClr val="C17817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1" name="Text 18"/>
          <p:cNvSpPr/>
          <p:nvPr/>
        </p:nvSpPr>
        <p:spPr>
          <a:xfrm>
            <a:off x="7429499" y="34966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48640" y="4515154"/>
            <a:ext cx="6720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sz="1600" b="1" dirty="0">
                <a:solidFill>
                  <a:srgbClr val="4A2C2A"/>
                </a:solidFill>
                <a:latin typeface="Cambria" pitchFamily="34" charset="0"/>
                <a:ea typeface="Cambria" pitchFamily="34" charset="-122"/>
              </a:rPr>
              <a:t>הכנסת אוויר וסירקולציה</a:t>
            </a:r>
            <a:endParaRPr lang="en-US" sz="1600" b="1" dirty="0">
              <a:solidFill>
                <a:srgbClr val="4A2C2A"/>
              </a:solidFill>
              <a:latin typeface="Cambria" pitchFamily="34" charset="0"/>
              <a:ea typeface="Cambria" pitchFamily="34" charset="-122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3835084" y="5897880"/>
            <a:ext cx="3457257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0000"/>
              </a:lnSpc>
              <a:buNone/>
            </a:pPr>
            <a:r>
              <a:rPr lang="en-US" sz="135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שואפים למרקם חלק ומבריק כמו "צבע לק" — לא קצף יבש עם בועות גדולות.</a:t>
            </a:r>
            <a:endParaRPr lang="en-US" sz="13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084D794-ECB6-2BD8-A02C-02ED5498BB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" y="2075688"/>
            <a:ext cx="3492183" cy="4332408"/>
          </a:xfrm>
          <a:prstGeom prst="rect">
            <a:avLst/>
          </a:prstGeom>
        </p:spPr>
      </p:pic>
      <p:sp>
        <p:nvSpPr>
          <p:cNvPr id="27" name="Text 19">
            <a:extLst>
              <a:ext uri="{FF2B5EF4-FFF2-40B4-BE49-F238E27FC236}">
                <a16:creationId xmlns:a16="http://schemas.microsoft.com/office/drawing/2014/main" id="{0B0D0110-5564-138F-197D-7BBF0E109AD6}"/>
              </a:ext>
            </a:extLst>
          </p:cNvPr>
          <p:cNvSpPr/>
          <p:nvPr/>
        </p:nvSpPr>
        <p:spPr>
          <a:xfrm>
            <a:off x="548640" y="520446"/>
            <a:ext cx="6720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sz="1600" b="1" dirty="0">
                <a:solidFill>
                  <a:srgbClr val="4A2C2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פעולות</a:t>
            </a:r>
            <a:r>
              <a:rPr lang="he-IL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he-IL" sz="1600" b="1" dirty="0">
                <a:solidFill>
                  <a:srgbClr val="4A2C2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קבועות</a:t>
            </a:r>
            <a:endParaRPr lang="en-US" sz="1600" b="1" dirty="0">
              <a:solidFill>
                <a:srgbClr val="4A2C2A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76D14D98-5452-24C0-66FD-21DF242D17A3}"/>
              </a:ext>
            </a:extLst>
          </p:cNvPr>
          <p:cNvSpPr/>
          <p:nvPr/>
        </p:nvSpPr>
        <p:spPr>
          <a:xfrm>
            <a:off x="3835084" y="904494"/>
            <a:ext cx="3457257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0000"/>
              </a:lnSpc>
              <a:buNone/>
            </a:pPr>
            <a:r>
              <a:rPr lang="he-IL" sz="135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כלל הברזל כדי להגיע להקצפה טובה, פעולות קבועות ובלי שינויים. לאט </a:t>
            </a:r>
            <a:r>
              <a:rPr lang="he-IL" sz="1350" dirty="0" err="1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לאט</a:t>
            </a:r>
            <a:r>
              <a:rPr lang="he-IL" sz="135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מגיעים לשיטה הנכונה</a:t>
            </a:r>
            <a:endParaRPr lang="en-US" sz="1350" dirty="0"/>
          </a:p>
        </p:txBody>
      </p:sp>
      <p:sp>
        <p:nvSpPr>
          <p:cNvPr id="31" name="Text 19">
            <a:extLst>
              <a:ext uri="{FF2B5EF4-FFF2-40B4-BE49-F238E27FC236}">
                <a16:creationId xmlns:a16="http://schemas.microsoft.com/office/drawing/2014/main" id="{F659B389-23FC-1A50-3F99-1AFC047C185B}"/>
              </a:ext>
            </a:extLst>
          </p:cNvPr>
          <p:cNvSpPr/>
          <p:nvPr/>
        </p:nvSpPr>
        <p:spPr>
          <a:xfrm>
            <a:off x="548640" y="5513832"/>
            <a:ext cx="6720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600" b="1" dirty="0" err="1">
                <a:solidFill>
                  <a:srgbClr val="4A2C2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מרקם</a:t>
            </a:r>
            <a:r>
              <a:rPr lang="en-US" sz="1600" b="1" dirty="0">
                <a:solidFill>
                  <a:srgbClr val="4A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600" b="1" dirty="0" err="1">
                <a:solidFill>
                  <a:srgbClr val="4A2C2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אחיד</a:t>
            </a:r>
            <a:endParaRPr lang="en-US" sz="1600" b="1" dirty="0">
              <a:solidFill>
                <a:srgbClr val="4A2C2A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3" name="Text 20">
            <a:extLst>
              <a:ext uri="{FF2B5EF4-FFF2-40B4-BE49-F238E27FC236}">
                <a16:creationId xmlns:a16="http://schemas.microsoft.com/office/drawing/2014/main" id="{DF2D3423-A3D5-E5C5-02AC-22B9CF2CE1DA}"/>
              </a:ext>
            </a:extLst>
          </p:cNvPr>
          <p:cNvSpPr/>
          <p:nvPr/>
        </p:nvSpPr>
        <p:spPr>
          <a:xfrm>
            <a:off x="3835084" y="4899202"/>
            <a:ext cx="3457257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0000"/>
              </a:lnSpc>
              <a:buNone/>
            </a:pPr>
            <a:r>
              <a:rPr lang="he-IL" sz="135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מתחילים ב 2-3 שניות בקצה כדי להכניס אוויר. ומיד אחרי זה מכניסים את הפיה לעומק ויוצרים סירקולציה</a:t>
            </a:r>
            <a:endParaRPr lang="en-US" sz="1350" dirty="0"/>
          </a:p>
        </p:txBody>
      </p:sp>
      <p:sp>
        <p:nvSpPr>
          <p:cNvPr id="35" name="Shape 17">
            <a:extLst>
              <a:ext uri="{FF2B5EF4-FFF2-40B4-BE49-F238E27FC236}">
                <a16:creationId xmlns:a16="http://schemas.microsoft.com/office/drawing/2014/main" id="{043D9405-4125-94FA-57EE-DE923012A5DD}"/>
              </a:ext>
            </a:extLst>
          </p:cNvPr>
          <p:cNvSpPr/>
          <p:nvPr/>
        </p:nvSpPr>
        <p:spPr>
          <a:xfrm>
            <a:off x="7429499" y="4500616"/>
            <a:ext cx="502920" cy="502920"/>
          </a:xfrm>
          <a:prstGeom prst="ellipse">
            <a:avLst/>
          </a:prstGeom>
          <a:solidFill>
            <a:srgbClr val="C17817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7" name="Shape 17">
            <a:extLst>
              <a:ext uri="{FF2B5EF4-FFF2-40B4-BE49-F238E27FC236}">
                <a16:creationId xmlns:a16="http://schemas.microsoft.com/office/drawing/2014/main" id="{D263B26C-8200-2FA1-9C5D-189FEE6D57AA}"/>
              </a:ext>
            </a:extLst>
          </p:cNvPr>
          <p:cNvSpPr/>
          <p:nvPr/>
        </p:nvSpPr>
        <p:spPr>
          <a:xfrm>
            <a:off x="7429499" y="5504611"/>
            <a:ext cx="502920" cy="502920"/>
          </a:xfrm>
          <a:prstGeom prst="ellipse">
            <a:avLst/>
          </a:prstGeom>
          <a:solidFill>
            <a:srgbClr val="C17817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9" name="Text 10">
            <a:extLst>
              <a:ext uri="{FF2B5EF4-FFF2-40B4-BE49-F238E27FC236}">
                <a16:creationId xmlns:a16="http://schemas.microsoft.com/office/drawing/2014/main" id="{DDEE6EC3-45F1-F6D8-33F3-1B53B1598E8A}"/>
              </a:ext>
            </a:extLst>
          </p:cNvPr>
          <p:cNvSpPr/>
          <p:nvPr/>
        </p:nvSpPr>
        <p:spPr>
          <a:xfrm>
            <a:off x="7429499" y="5504611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51D82354-8AF4-F933-D349-C398E0FBB3DD}"/>
              </a:ext>
            </a:extLst>
          </p:cNvPr>
          <p:cNvSpPr/>
          <p:nvPr/>
        </p:nvSpPr>
        <p:spPr>
          <a:xfrm>
            <a:off x="7429499" y="45006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64611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4A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סוגי מנות אספרסו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739875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i="1" dirty="0">
                <a:solidFill>
                  <a:srgbClr val="C17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כמויות וזמני הכנה מדויקים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2975067"/>
              </p:ext>
            </p:extLst>
          </p:nvPr>
        </p:nvGraphicFramePr>
        <p:xfrm>
          <a:off x="5650302" y="1107828"/>
          <a:ext cx="5865687" cy="2202544"/>
        </p:xfrm>
        <a:graphic>
          <a:graphicData uri="http://schemas.openxmlformats.org/drawingml/2006/table">
            <a:tbl>
              <a:tblPr/>
              <a:tblGrid>
                <a:gridCol w="17408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41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4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22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44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סוג מנה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C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כמות קפה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C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כמות במנה (מ״ל)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C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זמן הכנה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C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711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350" b="1" dirty="0">
                          <a:solidFill>
                            <a:srgbClr val="4A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ריסטרטו (Ristretto)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7-9 גרם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15-20 מ״ל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15-20 שניות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9622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350" b="1" dirty="0">
                          <a:solidFill>
                            <a:srgbClr val="4A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אספרסו קצר (Espresso)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7-9 גרם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25-30 מ״ל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25-30 שניות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711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350" b="1" dirty="0">
                          <a:solidFill>
                            <a:srgbClr val="4A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אספרסו כפול (Doppio)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14-18 גרם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50-60 מ״ל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25-30 שניות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711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350" b="1" dirty="0">
                          <a:solidFill>
                            <a:srgbClr val="4A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אספרסו ארוך (Lungo)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7-9 גרם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45-50 מ״ל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35-40 שניות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4864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50" i="1" dirty="0">
                <a:solidFill>
                  <a:srgbClr val="C17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הכמויות הן טווח מומלץ להתחלה — כיילו לפי הפולים והמכונה הספציפית בעגלה שלכם.</a:t>
            </a:r>
            <a:endParaRPr lang="en-US" sz="12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C7A5C3-F0DA-5C9A-2BCA-B5B0B02AA8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792" y="700752"/>
            <a:ext cx="4238123" cy="5701189"/>
          </a:xfrm>
          <a:prstGeom prst="rect">
            <a:avLst/>
          </a:prstGeom>
        </p:spPr>
      </p:pic>
      <p:graphicFrame>
        <p:nvGraphicFramePr>
          <p:cNvPr id="8" name="Table 0">
            <a:extLst>
              <a:ext uri="{FF2B5EF4-FFF2-40B4-BE49-F238E27FC236}">
                <a16:creationId xmlns:a16="http://schemas.microsoft.com/office/drawing/2014/main" id="{81F20C02-2F8B-35B2-D638-691E80CAEB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081717"/>
              </p:ext>
            </p:extLst>
          </p:nvPr>
        </p:nvGraphicFramePr>
        <p:xfrm>
          <a:off x="5650302" y="3547629"/>
          <a:ext cx="5865687" cy="2850076"/>
        </p:xfrm>
        <a:graphic>
          <a:graphicData uri="http://schemas.openxmlformats.org/drawingml/2006/table">
            <a:tbl>
              <a:tblPr/>
              <a:tblGrid>
                <a:gridCol w="7495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11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1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9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48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64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משקה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C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אספרסו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C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חלב מוקצף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C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קצף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C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הערה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C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484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50" b="1" dirty="0">
                          <a:solidFill>
                            <a:srgbClr val="4A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קפוצ׳ינו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מנה אחת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כמות שווה לאספרסו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שכבה עבה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15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בערך שליש-שליש-שליש: אספרסו, חלב, קצף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856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50" b="1" dirty="0">
                          <a:solidFill>
                            <a:srgbClr val="4A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לאטה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מנה אחת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כמות גדולה, חלק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שכבה דקה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15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"חלבי" יותר ועדין יותר מקפוצ׳ינו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484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50" b="1" dirty="0" err="1">
                          <a:solidFill>
                            <a:srgbClr val="4A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הפוך</a:t>
                      </a:r>
                      <a:r>
                        <a:rPr lang="en-US" sz="1250" b="1" dirty="0">
                          <a:solidFill>
                            <a:srgbClr val="4A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he-IL" sz="1250" b="1" dirty="0">
                          <a:solidFill>
                            <a:srgbClr val="4A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קטן/גדול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 err="1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מנה</a:t>
                      </a:r>
                      <a:r>
                        <a:rPr lang="en-US" sz="115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50" dirty="0" err="1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אחת</a:t>
                      </a:r>
                      <a:r>
                        <a:rPr lang="he-IL" sz="115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/מנה כפולה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כמות גדולה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מעט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15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הקלאסי הישראלי — יחס חלב-קפה גבוה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856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50" b="1" dirty="0">
                          <a:solidFill>
                            <a:srgbClr val="4A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קורטדו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מנה אחת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כמות שווה לאספרסו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כמעט ללא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15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מאוזן וקצר, מקורו בספרד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7856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50" b="1" dirty="0">
                          <a:solidFill>
                            <a:srgbClr val="4A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מקיאטו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מנה אחת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כפית בלבד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רק "כתם" קצף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15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כמעט טהור אספרסו עם רמז לחלב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7856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50" b="1" dirty="0">
                          <a:solidFill>
                            <a:srgbClr val="4A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אמריקנו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מנה אחת/כפולה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ללא חלב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ללא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15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אספרסו + מים חמים, בלי חלב בכלל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9B6A9-ABF2-933D-3F37-716E48701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D66E4DD-B879-B03B-799F-3EC5BAF3E49F}"/>
              </a:ext>
            </a:extLst>
          </p:cNvPr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sz="3200" b="1" dirty="0">
                <a:solidFill>
                  <a:srgbClr val="4A2C2A"/>
                </a:solidFill>
                <a:latin typeface="Cambria" pitchFamily="34" charset="0"/>
                <a:ea typeface="Cambria" pitchFamily="34" charset="-122"/>
              </a:rPr>
              <a:t>כוונון המכונה</a:t>
            </a:r>
            <a:endParaRPr lang="en-US" sz="3200" dirty="0"/>
          </a:p>
        </p:txBody>
      </p:sp>
      <p:sp>
        <p:nvSpPr>
          <p:cNvPr id="34" name="Shape 4">
            <a:extLst>
              <a:ext uri="{FF2B5EF4-FFF2-40B4-BE49-F238E27FC236}">
                <a16:creationId xmlns:a16="http://schemas.microsoft.com/office/drawing/2014/main" id="{44A48E72-F35F-20FE-8FCC-A4F1F527B60F}"/>
              </a:ext>
            </a:extLst>
          </p:cNvPr>
          <p:cNvSpPr/>
          <p:nvPr/>
        </p:nvSpPr>
        <p:spPr>
          <a:xfrm>
            <a:off x="5898016" y="4377782"/>
            <a:ext cx="216092" cy="214822"/>
          </a:xfrm>
          <a:prstGeom prst="ellipse">
            <a:avLst/>
          </a:prstGeom>
          <a:solidFill>
            <a:srgbClr val="C17817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6" name="Text 5">
            <a:extLst>
              <a:ext uri="{FF2B5EF4-FFF2-40B4-BE49-F238E27FC236}">
                <a16:creationId xmlns:a16="http://schemas.microsoft.com/office/drawing/2014/main" id="{6F207561-C253-6D28-F4B0-4346141DE44D}"/>
              </a:ext>
            </a:extLst>
          </p:cNvPr>
          <p:cNvSpPr/>
          <p:nvPr/>
        </p:nvSpPr>
        <p:spPr>
          <a:xfrm>
            <a:off x="355600" y="4305186"/>
            <a:ext cx="5497884" cy="22327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5000"/>
              </a:lnSpc>
              <a:buNone/>
            </a:pPr>
            <a:r>
              <a:rPr lang="he-IL" sz="160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קובעים את כמות המים – 25 עד 30 מ"ל, 50-60 מ"ל למנה כפולה</a:t>
            </a:r>
          </a:p>
          <a:p>
            <a:pPr algn="r" rtl="1">
              <a:lnSpc>
                <a:spcPct val="115000"/>
              </a:lnSpc>
            </a:pPr>
            <a:r>
              <a:rPr lang="he-IL" sz="160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קובעים טחינה וכמות קפה לפי 7-9 גרם, 15-18 גרם למנה כפולה </a:t>
            </a:r>
          </a:p>
          <a:p>
            <a:pPr algn="r" rtl="1">
              <a:lnSpc>
                <a:spcPct val="115000"/>
              </a:lnSpc>
            </a:pPr>
            <a:r>
              <a:rPr lang="he-IL" sz="160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בודקים את הזרימה וכמה זמן למנה </a:t>
            </a:r>
            <a:r>
              <a:rPr lang="en-US" sz="160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שניות</a:t>
            </a:r>
            <a:r>
              <a:rPr lang="en-US" sz="160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למנת</a:t>
            </a:r>
            <a:r>
              <a:rPr lang="en-US" sz="160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אספרסו</a:t>
            </a:r>
            <a:r>
              <a:rPr lang="en-US" sz="160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בודדת</a:t>
            </a:r>
            <a:r>
              <a:rPr lang="en-US" sz="160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e-IL" sz="160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או כפולה</a:t>
            </a:r>
            <a:r>
              <a:rPr lang="en-US" sz="160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he-IL" sz="160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30-40 למנה ארוכה בודדת או כפולה. </a:t>
            </a:r>
          </a:p>
          <a:p>
            <a:pPr marL="0" indent="0" algn="r" rtl="1">
              <a:lnSpc>
                <a:spcPct val="115000"/>
              </a:lnSpc>
              <a:buNone/>
            </a:pPr>
            <a:r>
              <a:rPr lang="he-IL" sz="1600" b="1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מתקנים – זמן קצר מדי – יותר קפה טחינה דקה יותר. זמן ארוך מדי – פחות קפה או טחינה גסה יותר</a:t>
            </a:r>
          </a:p>
        </p:txBody>
      </p:sp>
      <p:sp>
        <p:nvSpPr>
          <p:cNvPr id="38" name="Text 1">
            <a:extLst>
              <a:ext uri="{FF2B5EF4-FFF2-40B4-BE49-F238E27FC236}">
                <a16:creationId xmlns:a16="http://schemas.microsoft.com/office/drawing/2014/main" id="{778820F4-AD22-21F5-54D6-194072B88681}"/>
              </a:ext>
            </a:extLst>
          </p:cNvPr>
          <p:cNvSpPr/>
          <p:nvPr/>
        </p:nvSpPr>
        <p:spPr>
          <a:xfrm>
            <a:off x="2406650" y="3930159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sz="1400" i="1" dirty="0">
                <a:solidFill>
                  <a:srgbClr val="C17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כשהמכונה לא מכוונת:</a:t>
            </a:r>
            <a:endParaRPr lang="en-US" sz="1400" dirty="0"/>
          </a:p>
        </p:txBody>
      </p:sp>
      <p:sp>
        <p:nvSpPr>
          <p:cNvPr id="40" name="Shape 4">
            <a:extLst>
              <a:ext uri="{FF2B5EF4-FFF2-40B4-BE49-F238E27FC236}">
                <a16:creationId xmlns:a16="http://schemas.microsoft.com/office/drawing/2014/main" id="{F0AAF99E-7276-B6E9-07A8-835BAC40E2F6}"/>
              </a:ext>
            </a:extLst>
          </p:cNvPr>
          <p:cNvSpPr/>
          <p:nvPr/>
        </p:nvSpPr>
        <p:spPr>
          <a:xfrm>
            <a:off x="5898016" y="4665138"/>
            <a:ext cx="216092" cy="214822"/>
          </a:xfrm>
          <a:prstGeom prst="ellipse">
            <a:avLst/>
          </a:prstGeom>
          <a:solidFill>
            <a:srgbClr val="C17817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2" name="Text 5">
            <a:extLst>
              <a:ext uri="{FF2B5EF4-FFF2-40B4-BE49-F238E27FC236}">
                <a16:creationId xmlns:a16="http://schemas.microsoft.com/office/drawing/2014/main" id="{439E8E9B-58E6-1751-139A-D923BF7EECC8}"/>
              </a:ext>
            </a:extLst>
          </p:cNvPr>
          <p:cNvSpPr/>
          <p:nvPr/>
        </p:nvSpPr>
        <p:spPr>
          <a:xfrm>
            <a:off x="-815920" y="4592604"/>
            <a:ext cx="6669404" cy="4234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5000"/>
              </a:lnSpc>
              <a:buNone/>
            </a:pPr>
            <a:endParaRPr lang="he-IL" dirty="0">
              <a:solidFill>
                <a:srgbClr val="3A2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4" name="Text 5">
            <a:extLst>
              <a:ext uri="{FF2B5EF4-FFF2-40B4-BE49-F238E27FC236}">
                <a16:creationId xmlns:a16="http://schemas.microsoft.com/office/drawing/2014/main" id="{44D881EF-5020-A4F1-3EFC-63C12347E2F6}"/>
              </a:ext>
            </a:extLst>
          </p:cNvPr>
          <p:cNvSpPr/>
          <p:nvPr/>
        </p:nvSpPr>
        <p:spPr>
          <a:xfrm>
            <a:off x="1054100" y="5193288"/>
            <a:ext cx="10165134" cy="4234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rtl="1">
              <a:lnSpc>
                <a:spcPct val="115000"/>
              </a:lnSpc>
            </a:pPr>
            <a:endParaRPr lang="he-IL" dirty="0">
              <a:solidFill>
                <a:srgbClr val="3A2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0" name="Shape 4">
            <a:extLst>
              <a:ext uri="{FF2B5EF4-FFF2-40B4-BE49-F238E27FC236}">
                <a16:creationId xmlns:a16="http://schemas.microsoft.com/office/drawing/2014/main" id="{43362AF4-C400-82BD-E438-50CD0D00D781}"/>
              </a:ext>
            </a:extLst>
          </p:cNvPr>
          <p:cNvSpPr/>
          <p:nvPr/>
        </p:nvSpPr>
        <p:spPr>
          <a:xfrm>
            <a:off x="5898016" y="4952494"/>
            <a:ext cx="216092" cy="214822"/>
          </a:xfrm>
          <a:prstGeom prst="ellipse">
            <a:avLst/>
          </a:prstGeom>
          <a:solidFill>
            <a:srgbClr val="C17817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54" name="Shape 4">
            <a:extLst>
              <a:ext uri="{FF2B5EF4-FFF2-40B4-BE49-F238E27FC236}">
                <a16:creationId xmlns:a16="http://schemas.microsoft.com/office/drawing/2014/main" id="{4C243DEF-79F3-0C65-EA2C-C84080808ED5}"/>
              </a:ext>
            </a:extLst>
          </p:cNvPr>
          <p:cNvSpPr/>
          <p:nvPr/>
        </p:nvSpPr>
        <p:spPr>
          <a:xfrm>
            <a:off x="5898016" y="5527206"/>
            <a:ext cx="216092" cy="214822"/>
          </a:xfrm>
          <a:prstGeom prst="ellipse">
            <a:avLst/>
          </a:prstGeom>
          <a:solidFill>
            <a:srgbClr val="C17817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96C74AFB-BD3F-A62C-C317-FDEC6F551E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9199" y="1093707"/>
            <a:ext cx="4347465" cy="2447462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3F75DAA-9B9A-EC1E-42DE-70FFC638CB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3358" y="1143000"/>
            <a:ext cx="5545803" cy="529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6443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4A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פתרון בעיות נפוצות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i="1" dirty="0">
                <a:solidFill>
                  <a:srgbClr val="C17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עושים כשמשהו לא יוצא כמו שצריך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4206237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2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0891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בעיה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C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סיבה אפשרית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C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פתרון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C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50" b="1" dirty="0">
                          <a:solidFill>
                            <a:srgbClr val="4A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קפה חמצמץ / חלש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טחינה גסה מדי, או כמות קפה נמוכה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טוחנים דק יותר / מגדילים מינון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50" b="1" dirty="0">
                          <a:solidFill>
                            <a:srgbClr val="4A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קפה מריר / שרוף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טחינה דקה מדי, או זמן חליטה ארוך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טוחנים גס יותר / מקצרים זמן חליטה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50" b="1" dirty="0">
                          <a:solidFill>
                            <a:srgbClr val="4A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זרימה מהירה מדי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טחינה גסה מדי, או דחיסה חלשה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טוחנים דק יותר / דוחסים חזק יותר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50" b="1" dirty="0">
                          <a:solidFill>
                            <a:srgbClr val="4A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זרימה איטית מדי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טחינה דקה מדי, או דחיסה חזקה מדי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טוחנים גס יותר / מקלים על הדחיסה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50" b="1" dirty="0">
                          <a:solidFill>
                            <a:srgbClr val="4A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אין קרמה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פולים לא טריים, או טמפ׳ לא נכונה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מחליפים פולים / מכיילים טמפרטורה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50" b="1" dirty="0">
                          <a:solidFill>
                            <a:srgbClr val="4A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החלב לא מוקצף כראוי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חלב לא קר מספיק, או מקציף מלוכלך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משתמשים בחלב קר טרי / מנקים את הפייה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4A2C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389120"/>
            <a:ext cx="5029200" cy="5029200"/>
          </a:xfrm>
          <a:prstGeom prst="ellipse">
            <a:avLst/>
          </a:prstGeom>
          <a:solidFill>
            <a:srgbClr val="2E1A18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>
            <a:off x="9875520" y="-2011680"/>
            <a:ext cx="3840480" cy="3840480"/>
          </a:xfrm>
          <a:prstGeom prst="ellipse">
            <a:avLst/>
          </a:prstGeom>
          <a:solidFill>
            <a:srgbClr val="2E1A18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כללים לזכור בעגלה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463040" y="1691640"/>
            <a:ext cx="9235440" cy="713232"/>
          </a:xfrm>
          <a:prstGeom prst="roundRect">
            <a:avLst>
              <a:gd name="adj" fmla="val 12821"/>
            </a:avLst>
          </a:prstGeom>
          <a:solidFill>
            <a:srgbClr val="5C3C3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6" name="Shape 4"/>
          <p:cNvSpPr/>
          <p:nvPr/>
        </p:nvSpPr>
        <p:spPr>
          <a:xfrm>
            <a:off x="9944100" y="1796796"/>
            <a:ext cx="502920" cy="502920"/>
          </a:xfrm>
          <a:prstGeom prst="ellipse">
            <a:avLst/>
          </a:prstGeom>
          <a:solidFill>
            <a:srgbClr val="C17817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7" name="Image 0" descr="icon_MdCheckCircle_4A2C2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7257" y="1909953"/>
            <a:ext cx="276606" cy="2766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691640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178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2331720" y="1691640"/>
            <a:ext cx="7635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מכונה נקייה ושמורה תבטיח קפה טוב ואריכות חיים של המכונה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463040" y="2569464"/>
            <a:ext cx="9235440" cy="713232"/>
          </a:xfrm>
          <a:prstGeom prst="roundRect">
            <a:avLst>
              <a:gd name="adj" fmla="val 12821"/>
            </a:avLst>
          </a:prstGeom>
          <a:solidFill>
            <a:srgbClr val="5C3C3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1" name="Shape 8"/>
          <p:cNvSpPr/>
          <p:nvPr/>
        </p:nvSpPr>
        <p:spPr>
          <a:xfrm>
            <a:off x="9944100" y="2674620"/>
            <a:ext cx="502920" cy="502920"/>
          </a:xfrm>
          <a:prstGeom prst="ellipse">
            <a:avLst/>
          </a:prstGeom>
          <a:solidFill>
            <a:srgbClr val="C17817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2" name="Image 1" descr="icon_MdCheckCircle_4A2C2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7257" y="2787777"/>
            <a:ext cx="276606" cy="27660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91640" y="2569464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178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Shape 11"/>
          <p:cNvSpPr/>
          <p:nvPr/>
        </p:nvSpPr>
        <p:spPr>
          <a:xfrm>
            <a:off x="1463040" y="3447288"/>
            <a:ext cx="9235440" cy="713232"/>
          </a:xfrm>
          <a:prstGeom prst="roundRect">
            <a:avLst>
              <a:gd name="adj" fmla="val 12821"/>
            </a:avLst>
          </a:prstGeom>
          <a:solidFill>
            <a:srgbClr val="5C3C3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6" name="Shape 12"/>
          <p:cNvSpPr/>
          <p:nvPr/>
        </p:nvSpPr>
        <p:spPr>
          <a:xfrm>
            <a:off x="9944100" y="3552444"/>
            <a:ext cx="502920" cy="502920"/>
          </a:xfrm>
          <a:prstGeom prst="ellipse">
            <a:avLst/>
          </a:prstGeom>
          <a:solidFill>
            <a:srgbClr val="C17817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7" name="Image 2" descr="icon_MdCheckCircle_4A2C2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7257" y="3665601"/>
            <a:ext cx="276606" cy="27660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91640" y="3447288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178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2331720" y="2551176"/>
            <a:ext cx="7635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rtl="1"/>
            <a:r>
              <a:rPr lang="he-IL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לזכור את שלבי ההכנה ולא לוותר גם אם יש לחץ. אם לא יצא טוב, מכינים חדש 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1463040" y="4325112"/>
            <a:ext cx="9235440" cy="713232"/>
          </a:xfrm>
          <a:prstGeom prst="roundRect">
            <a:avLst>
              <a:gd name="adj" fmla="val 12821"/>
            </a:avLst>
          </a:prstGeom>
          <a:solidFill>
            <a:srgbClr val="5C3C3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1" name="Shape 16"/>
          <p:cNvSpPr/>
          <p:nvPr/>
        </p:nvSpPr>
        <p:spPr>
          <a:xfrm>
            <a:off x="9944100" y="4430268"/>
            <a:ext cx="502920" cy="502920"/>
          </a:xfrm>
          <a:prstGeom prst="ellipse">
            <a:avLst/>
          </a:prstGeom>
          <a:solidFill>
            <a:srgbClr val="C17817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22" name="Image 3" descr="icon_MdCheckCircle_4A2C2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7257" y="4543425"/>
            <a:ext cx="276606" cy="27660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91640" y="4325112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178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18"/>
          <p:cNvSpPr/>
          <p:nvPr/>
        </p:nvSpPr>
        <p:spPr>
          <a:xfrm>
            <a:off x="2331720" y="4325112"/>
            <a:ext cx="7635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1463040" y="5202936"/>
            <a:ext cx="9235440" cy="713232"/>
          </a:xfrm>
          <a:prstGeom prst="roundRect">
            <a:avLst>
              <a:gd name="adj" fmla="val 12821"/>
            </a:avLst>
          </a:prstGeom>
          <a:solidFill>
            <a:srgbClr val="5C3C3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6" name="Shape 20"/>
          <p:cNvSpPr/>
          <p:nvPr/>
        </p:nvSpPr>
        <p:spPr>
          <a:xfrm>
            <a:off x="9944100" y="5308092"/>
            <a:ext cx="502920" cy="502920"/>
          </a:xfrm>
          <a:prstGeom prst="ellipse">
            <a:avLst/>
          </a:prstGeom>
          <a:solidFill>
            <a:srgbClr val="C17817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27" name="Image 4" descr="icon_MdCheckCircle_4A2C2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7257" y="5421249"/>
            <a:ext cx="276606" cy="27660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91640" y="5202936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178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9" name="Text 22"/>
          <p:cNvSpPr/>
          <p:nvPr/>
        </p:nvSpPr>
        <p:spPr>
          <a:xfrm>
            <a:off x="2331720" y="5202936"/>
            <a:ext cx="7635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תמיד מגישים בחיוך </a:t>
            </a:r>
            <a:r>
              <a:rPr lang="he-IL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</a:t>
            </a:r>
            <a:endParaRPr lang="en-US" sz="1600" dirty="0"/>
          </a:p>
        </p:txBody>
      </p:sp>
      <p:sp>
        <p:nvSpPr>
          <p:cNvPr id="30" name="Text 23"/>
          <p:cNvSpPr/>
          <p:nvPr/>
        </p:nvSpPr>
        <p:spPr>
          <a:xfrm>
            <a:off x="914400" y="63093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D8C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בהצלחה ותהנו — ושתמיד תצא כוס קפה שמגיעה ללקוח כמו שהיא צריכה 🙂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2331720" y="3447288"/>
            <a:ext cx="7635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rtl="1"/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25-30 </a:t>
            </a:r>
            <a:r>
              <a:rPr lang="he-IL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35-40</a:t>
            </a:r>
            <a:r>
              <a:rPr lang="he-IL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שניות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זו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המטרה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למנה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בודדת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e-IL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(ארוכה)</a:t>
            </a:r>
            <a:r>
              <a:rPr lang="en-US" sz="1600" dirty="0"/>
              <a:t> </a:t>
            </a:r>
            <a:r>
              <a:rPr lang="he-IL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ואם צריך מכיילים. לא מחכים</a:t>
            </a:r>
            <a:endParaRPr lang="en-US" sz="1600" dirty="0"/>
          </a:p>
        </p:txBody>
      </p:sp>
      <p:sp>
        <p:nvSpPr>
          <p:cNvPr id="34" name="Text 22">
            <a:extLst>
              <a:ext uri="{FF2B5EF4-FFF2-40B4-BE49-F238E27FC236}">
                <a16:creationId xmlns:a16="http://schemas.microsoft.com/office/drawing/2014/main" id="{293D6248-4565-760F-D594-010D2378E485}"/>
              </a:ext>
            </a:extLst>
          </p:cNvPr>
          <p:cNvSpPr/>
          <p:nvPr/>
        </p:nvSpPr>
        <p:spPr>
          <a:xfrm>
            <a:off x="2308860" y="4325112"/>
            <a:ext cx="7635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טועמים, מכיילים,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ומשתפרים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כל יום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2406</TotalTime>
  <Words>1255</Words>
  <Application>Microsoft Office PowerPoint</Application>
  <PresentationFormat>Widescreen</PresentationFormat>
  <Paragraphs>215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Danniel Nahmanny</cp:lastModifiedBy>
  <cp:revision>5</cp:revision>
  <dcterms:created xsi:type="dcterms:W3CDTF">2026-08-16T12:41:21Z</dcterms:created>
  <dcterms:modified xsi:type="dcterms:W3CDTF">2026-10-14T16:09:14Z</dcterms:modified>
</cp:coreProperties>
</file>